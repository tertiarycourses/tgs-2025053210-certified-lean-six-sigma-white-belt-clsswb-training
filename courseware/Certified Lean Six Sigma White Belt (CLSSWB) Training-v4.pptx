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TGS-2025053210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8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Lab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Lab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Digital attendance (PM)</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Lab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Lab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Lab 5 — Control: hold the gain · Revision</a:t>
            </a:r>
          </a:p>
          <a:p>
            <a:pPr>
              <a:spcAft>
                <a:spcPts val="1000"/>
              </a:spcAft>
            </a:pPr>
            <a:r>
              <a:rPr sz="1300">
                <a:solidFill>
                  <a:srgbClr val="5B6372"/>
                </a:solidFill>
                <a:latin typeface="Arial"/>
              </a:rPr>
              <a:t>–  Briefing · Final Assessment (WA + 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Support the definition of an improvement project to meet process performance.</a:t>
            </a:r>
          </a:p>
          <a:p>
            <a:pPr>
              <a:spcAft>
                <a:spcPts val="1000"/>
              </a:spcAft>
            </a:pPr>
            <a:r>
              <a:rPr sz="1600">
                <a:solidFill>
                  <a:srgbClr val="161B26"/>
                </a:solidFill>
                <a:latin typeface="Arial"/>
              </a:rPr>
              <a:t>•  A2: Assist in establishing the scope of work based on organisational requirements.</a:t>
            </a:r>
          </a:p>
          <a:p>
            <a:pPr>
              <a:spcAft>
                <a:spcPts val="1000"/>
              </a:spcAft>
            </a:pPr>
            <a:r>
              <a:rPr sz="1600">
                <a:solidFill>
                  <a:srgbClr val="161B26"/>
                </a:solidFill>
                <a:latin typeface="Arial"/>
              </a:rPr>
              <a:t>•  A3: Assist in analysing process performance data to identify causes of variation.</a:t>
            </a:r>
          </a:p>
          <a:p>
            <a:pPr>
              <a:spcAft>
                <a:spcPts val="1000"/>
              </a:spcAft>
            </a:pPr>
            <a:r>
              <a:rPr sz="1600">
                <a:solidFill>
                  <a:srgbClr val="161B26"/>
                </a:solidFill>
                <a:latin typeface="Arial"/>
              </a:rPr>
              <a:t>•  A4: Support the measurement of process performance against defined quality standards.</a:t>
            </a:r>
          </a:p>
          <a:p>
            <a:pPr>
              <a:spcAft>
                <a:spcPts val="1000"/>
              </a:spcAft>
            </a:pPr>
            <a:r>
              <a:rPr sz="1600">
                <a:solidFill>
                  <a:srgbClr val="161B26"/>
                </a:solidFill>
                <a:latin typeface="Arial"/>
              </a:rPr>
              <a:t>•  A5: Support improvement and control actions that sustain process performance.</a:t>
            </a:r>
          </a:p>
          <a:p>
            <a:pPr>
              <a:spcAft>
                <a:spcPts val="1000"/>
              </a:spcAft>
            </a:pPr>
            <a:r>
              <a:rPr sz="1600">
                <a:solidFill>
                  <a:srgbClr val="161B26"/>
                </a:solidFill>
                <a:latin typeface="Arial"/>
              </a:rPr>
              <a:t>•  K1: Basic Lean and Six Sigma concepts — quality, value, waste and variation.</a:t>
            </a:r>
          </a:p>
          <a:p>
            <a:pPr>
              <a:spcAft>
                <a:spcPts val="1000"/>
              </a:spcAft>
            </a:pPr>
            <a:r>
              <a:rPr sz="1600">
                <a:solidFill>
                  <a:srgbClr val="161B26"/>
                </a:solidFill>
                <a:latin typeface="Arial"/>
              </a:rPr>
              <a:t>•  K2: Basic quality tools used at each phase of the DMAIC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Lab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Lab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Lab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Lab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Lab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00" b="0">
                <a:solidFill>
                  <a:srgbClr val="5B6372"/>
                </a:solidFill>
                <a:latin typeface="Arial"/>
              </a:rPr>
              <a:t>Place phones and other materials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00" b="0">
                <a:solidFill>
                  <a:srgbClr val="5B6372"/>
                </a:solidFill>
                <a:latin typeface="Arial"/>
              </a:rPr>
              <a:t>No photos or recording of assessment scripts.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Work alone</a:t>
            </a:r>
          </a:p>
          <a:p>
            <a:pPr algn="l">
              <a:spcAft>
                <a:spcPts val="300"/>
              </a:spcAft>
            </a:pPr>
            <a:r>
              <a:rPr sz="1100" b="0">
                <a:solidFill>
                  <a:srgbClr val="5B6372"/>
                </a:solidFill>
                <a:latin typeface="Arial"/>
              </a:rPr>
              <a:t>No discussion of any kind during the assessment.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00" b="0">
                <a:solidFill>
                  <a:srgbClr val="5B6372"/>
                </a:solidFill>
                <a:latin typeface="Arial"/>
              </a:rPr>
              <a:t>No liquid paper or correction tape on your script.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Pens down on time</a:t>
            </a:r>
          </a:p>
          <a:p>
            <a:pPr algn="l">
              <a:spcAft>
                <a:spcPts val="300"/>
              </a:spcAft>
            </a:pPr>
            <a:r>
              <a:rPr sz="1100" b="0">
                <a:solidFill>
                  <a:srgbClr val="5B6372"/>
                </a:solidFill>
                <a:latin typeface="Arial"/>
              </a:rPr>
              <a:t>Scripts are collected as soon as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Written Assessment (WA) — Short-Answer Questions (SAQ), 30 minutes, open book.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Case Study (CS) — applied Lean Six Sigma scenario tasks, 30 minutes, open book.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your lab outputs and approved materials only.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a:t>
            </a:r>
          </a:p>
          <a:p>
            <a:pPr algn="l">
              <a:spcAft>
                <a:spcPts val="300"/>
              </a:spcAft>
            </a:pPr>
            <a:r>
              <a:rPr sz="1100" b="0">
                <a:solidFill>
                  <a:srgbClr val="5B6372"/>
                </a:solidFill>
                <a:latin typeface="Arial"/>
              </a:rPr>
              <a:t>Graded Competent (C) or Not Yet Competent (NYC) by the assessor.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you wish to contest a result.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1</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Raw Voice of the Customer feedback</a:t>
            </a:r>
          </a:p>
          <a:p>
            <a:pPr algn="l">
              <a:spcAft>
                <a:spcPts val="300"/>
              </a:spcAft>
            </a:pPr>
            <a:r>
              <a:rPr sz="1000" b="0">
                <a:solidFill>
                  <a:srgbClr val="5B6372"/>
                </a:solidFill>
                <a:latin typeface="Arial"/>
              </a:rPr>
              <a:t>30 rows — voc-raw-customer-feedback.csv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2 blank templates</a:t>
            </a:r>
          </a:p>
          <a:p>
            <a:pPr algn="l">
              <a:spcAft>
                <a:spcPts val="300"/>
              </a:spcAft>
            </a:pPr>
            <a:r>
              <a:rPr sz="1000" b="0">
                <a:solidFill>
                  <a:srgbClr val="5B6372"/>
                </a:solidFill>
                <a:latin typeface="Arial"/>
              </a:rPr>
              <a:t>Worksheets to fill in — one per step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A01-Data-Workbook.xlsx</a:t>
            </a:r>
          </a:p>
          <a:p>
            <a:pPr algn="l">
              <a:spcAft>
                <a:spcPts val="300"/>
              </a:spcAft>
            </a:pPr>
            <a:r>
              <a:rPr sz="1000" b="0">
                <a:solidFill>
                  <a:srgbClr val="5B6372"/>
                </a:solidFill>
                <a:latin typeface="Arial"/>
              </a:rPr>
              <a:t>Every dataset and template, one per tab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then open data/voc-raw-customer-feedback.csv (or the workbook) and read all 30 pieces of customer feedback. Underline every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templates/voc-to-ctq-template.csv, write down five Voice of the Customer statements in the customer's OWN words, quoted from the Verbatim Comment column — do not paraphrase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in the same template — every CTQ must carry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templates/problem-statement-and-scope-template.csv, write the problem statement: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rows at the bottom of the same template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2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Morning rush observation log</a:t>
            </a:r>
          </a:p>
          <a:p>
            <a:pPr algn="l">
              <a:spcAft>
                <a:spcPts val="300"/>
              </a:spcAft>
            </a:pPr>
            <a:r>
              <a:rPr sz="1000" b="0">
                <a:solidFill>
                  <a:srgbClr val="5B6372"/>
                </a:solidFill>
                <a:latin typeface="Arial"/>
              </a:rPr>
              <a:t>60 rows — morning-rush-observation-log.csv</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Process step timings</a:t>
            </a:r>
          </a:p>
          <a:p>
            <a:pPr algn="l">
              <a:spcAft>
                <a:spcPts val="300"/>
              </a:spcAft>
            </a:pPr>
            <a:r>
              <a:rPr sz="1000" b="0">
                <a:solidFill>
                  <a:srgbClr val="5B6372"/>
                </a:solidFill>
                <a:latin typeface="Arial"/>
              </a:rPr>
              <a:t>15 rows — process-step-timings.csv</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DOWNTIME waste tally (partially completed)</a:t>
            </a:r>
          </a:p>
          <a:p>
            <a:pPr algn="l">
              <a:spcAft>
                <a:spcPts val="300"/>
              </a:spcAft>
            </a:pPr>
            <a:r>
              <a:rPr sz="1000" b="0">
                <a:solidFill>
                  <a:srgbClr val="5B6372"/>
                </a:solidFill>
                <a:latin typeface="Arial"/>
              </a:rPr>
              <a:t>8 rows — downtime-waste-tally.csv</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A02-Data-Workbook.xlsx</a:t>
            </a:r>
          </a:p>
          <a:p>
            <a:pPr algn="l">
              <a:spcAft>
                <a:spcPts val="300"/>
              </a:spcAft>
            </a:pPr>
            <a:r>
              <a:rPr sz="1000" b="0">
                <a:solidFill>
                  <a:srgbClr val="5B6372"/>
                </a:solidFill>
                <a:latin typeface="Arial"/>
              </a:rPr>
              <a:t>Every dataset and template, one per tab</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templates/sipoc-template.csv: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data/process-step-timings.csv. Copy the 15 steps into templates/process-map-template.csv with their observed times.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VA or NVA in the template — the test is whether the customer would pay extra for THAT step — and write one line saying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the columns in data/morning-rush-observation-log.csv and classify each: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data/downtime-waste-tally.csv — three rows are completed as worked examples. Using the observation log and the step timings as your evidence, complete the remaining five rows in templates/downtime-tally-template.csv.</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at which process step, then write down the baseline figures (average wait, longest wait, % over the 5-minute promise, drinks remade) — Lab 5 measures the improvement against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lab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3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3</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Delay reason Pareto data</a:t>
            </a:r>
          </a:p>
          <a:p>
            <a:pPr algn="l">
              <a:spcAft>
                <a:spcPts val="300"/>
              </a:spcAft>
            </a:pPr>
            <a:r>
              <a:rPr sz="1000" b="0">
                <a:solidFill>
                  <a:srgbClr val="5B6372"/>
                </a:solidFill>
                <a:latin typeface="Arial"/>
              </a:rPr>
              <a:t>6 rows — delay-reason-pareto-data.csv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Candidate causes and their evidence</a:t>
            </a:r>
          </a:p>
          <a:p>
            <a:pPr algn="l">
              <a:spcAft>
                <a:spcPts val="300"/>
              </a:spcAft>
            </a:pPr>
            <a:r>
              <a:rPr sz="1000" b="0">
                <a:solidFill>
                  <a:srgbClr val="5B6372"/>
                </a:solidFill>
                <a:latin typeface="Arial"/>
              </a:rPr>
              <a:t>12 rows — cause-evidence-sheet.csv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A03-Data-Workbook.xlsx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Lab 2 baseline at the top of templates/5-whys-template.csv (e.g. 'customers wait an average of 8.9 minutes against a 5-minute promise').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down the template, each answer becoming the next question. Stop when you reach a PROCESS the team can act on — never at a person.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templates/fishbone-template.csv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 Manpower, Method, Machine, Material, Measurement — then check them against data/cause-evidence-sheet.csv to see which ones the data actually supports.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data/delay-reason-pareto-data.csv — the delay reasons from the Lab 2 log, counted and ranked. Read the Cumulative % column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last column of data/cause-evidence-sheet.csv, decide for each cause whether it is common cause (built into the process)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templates/root-cause-shortlist-template.csv, shortlist the two or three causes best supported by evidence — not by opinion.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Lab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4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4</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Countermeasure options with impact, effort and cost</a:t>
            </a:r>
          </a:p>
          <a:p>
            <a:pPr algn="l">
              <a:spcAft>
                <a:spcPts val="300"/>
              </a:spcAft>
            </a:pPr>
            <a:r>
              <a:rPr sz="1000" b="0">
                <a:solidFill>
                  <a:srgbClr val="5B6372"/>
                </a:solidFill>
                <a:latin typeface="Arial"/>
              </a:rPr>
              <a:t>12 rows — countermeasure-options.csv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Pilot week results</a:t>
            </a:r>
          </a:p>
          <a:p>
            <a:pPr algn="l">
              <a:spcAft>
                <a:spcPts val="300"/>
              </a:spcAft>
            </a:pPr>
            <a:r>
              <a:rPr sz="1000" b="0">
                <a:solidFill>
                  <a:srgbClr val="5B6372"/>
                </a:solidFill>
                <a:latin typeface="Arial"/>
              </a:rPr>
              <a:t>6 rows — pilot-week-results.csv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A04-Data-Workbook.xlsx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Lab 3 at the top of templates/countermeasure-brainstorm-template.csv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 then compare your list with data/countermeasure-options.csv, which holds the twelve the team generated.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Impact and Effort scores in data/countermeasure-options.csv, plot every idea on templates/impact-effort-grid-template.csv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templates/standard-work-and-pilot-template.csv, write the improved method as standard work — short numbered steps with an unambiguous done/not-done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pilot plan rows of the same template: what changes, who runs it, what you will measure, the baseline to beat, and how you will know it worked. THEN open data/pilot-week-results.csv and compare what actually happened — pay close attention to Thursday.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Lab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5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5</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Post-improvement monitoring — four weeks</a:t>
            </a:r>
          </a:p>
          <a:p>
            <a:pPr algn="l">
              <a:spcAft>
                <a:spcPts val="300"/>
              </a:spcAft>
            </a:pPr>
            <a:r>
              <a:rPr sz="1000" b="0">
                <a:solidFill>
                  <a:srgbClr val="5B6372"/>
                </a:solidFill>
                <a:latin typeface="Arial"/>
              </a:rPr>
              <a:t>20 rows — post-improvement-monitoring.csv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Control plan — worked example (one row completed)</a:t>
            </a:r>
          </a:p>
          <a:p>
            <a:pPr algn="l">
              <a:spcAft>
                <a:spcPts val="300"/>
              </a:spcAft>
            </a:pPr>
            <a:r>
              <a:rPr sz="1000" b="0">
                <a:solidFill>
                  <a:srgbClr val="5B6372"/>
                </a:solidFill>
                <a:latin typeface="Arial"/>
              </a:rPr>
              <a:t>4 rows — control-plan-example.csv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A05-Data-Workbook.xlsx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data/post-improvement-monitoring.csv — four weeks of daily figures after the pilot was made permanent. Choose the ONE measure that tells you the improvement is still working.</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data/control-plan-example.csv for the worked first row, then complete templates/control-plan-template.csv: measure, target, how often it is checked, where it is recorded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 Then find week 3 in the monitoring data and state which day your plan would have triggered on.</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have made the week-3 drift visible to the whole shift on day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templates/sop-and-huddle-template.csv, turn your Lab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huddle rows of the same template: who attends, what is reviewed, who runs it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templates/one-page-summary-template.csv, summarise the whole project — problem, cause, countermeasure, result and control — and name who you hand it over to and when.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30 minutes) followed by the Case Study (30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