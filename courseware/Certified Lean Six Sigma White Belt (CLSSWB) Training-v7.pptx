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22960" y="1417320"/>
            <a:ext cx="2194560"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10607040" cy="2103120"/>
          </a:xfrm>
          <a:prstGeom prst="rect">
            <a:avLst/>
          </a:prstGeom>
          <a:noFill/>
        </p:spPr>
        <p:txBody>
          <a:bodyPr wrap="square" anchor="t">
            <a:spAutoFit/>
          </a:bodyPr>
          <a:lstStyle/>
          <a:p>
            <a:pPr algn="l">
              <a:spcAft>
                <a:spcPts val="400"/>
              </a:spcAft>
            </a:pPr>
            <a:r>
              <a:rPr sz="4200" b="1">
                <a:solidFill>
                  <a:srgbClr val="161B26"/>
                </a:solidFill>
                <a:latin typeface="Arial"/>
              </a:rPr>
              <a:t>Certified Lean Six Sigma White Belt (CLSSWB) Training</a:t>
            </a:r>
          </a:p>
        </p:txBody>
      </p:sp>
      <p:sp>
        <p:nvSpPr>
          <p:cNvPr id="6" name="Rectangle 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2519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TGS-2025053210</a:t>
            </a:r>
          </a:p>
          <a:p>
            <a:pPr algn="l">
              <a:spcAft>
                <a:spcPts val="600"/>
              </a:spcAft>
            </a:pPr>
            <a:r>
              <a:rPr sz="1400" b="0">
                <a:solidFill>
                  <a:srgbClr val="5B6372"/>
                </a:solidFill>
                <a:latin typeface="Arial"/>
              </a:rPr>
              <a:t>Conducted by Tertiary Infotech Academy Pte Ltd  ·  UEN: 201200696W</a:t>
            </a:r>
          </a:p>
          <a:p>
            <a:pPr algn="l">
              <a:spcAft>
                <a:spcPts val="600"/>
              </a:spcAft>
            </a:pPr>
            <a:r>
              <a:rPr sz="1300" b="0">
                <a:solidFill>
                  <a:srgbClr val="5B6372"/>
                </a:solidFill>
                <a:latin typeface="Arial"/>
              </a:rPr>
              <a:t>TSC: Quality Process Control  ·  ELE-QUA-5006-1.1</a:t>
            </a:r>
          </a:p>
        </p:txBody>
      </p:sp>
      <p:sp>
        <p:nvSpPr>
          <p:cNvPr id="8" name="TextBox 7"/>
          <p:cNvSpPr txBox="1"/>
          <p:nvPr/>
        </p:nvSpPr>
        <p:spPr>
          <a:xfrm>
            <a:off x="822960" y="5870448"/>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v7  ·  23 September 2026  ·  Trainer: Dr. Alfred Ang</a:t>
            </a:r>
          </a:p>
        </p:txBody>
      </p:sp>
      <p:sp>
        <p:nvSpPr>
          <p:cNvPr id="9" name="TextBox 8"/>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pic>
        <p:nvPicPr>
          <p:cNvPr id="10" name="Picture 9" descr="tertiary-logo.png"/>
          <p:cNvPicPr>
            <a:picLocks noChangeAspect="1"/>
          </p:cNvPicPr>
          <p:nvPr/>
        </p:nvPicPr>
        <p:blipFill>
          <a:blip r:embed="rId2"/>
          <a:stretch>
            <a:fillRect/>
          </a:stretch>
        </p:blipFill>
        <p:spPr>
          <a:xfrm>
            <a:off x="9692640" y="502920"/>
            <a:ext cx="777240" cy="777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(Mandatory)</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Repeat for AM, PM and the assessment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75% attendance to stay eligible for funding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templat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a:t>
            </a:r>
          </a:p>
          <a:p>
            <a:pPr algn="ctr">
              <a:spcAft>
                <a:spcPts val="400"/>
              </a:spcAft>
            </a:pPr>
            <a:r>
              <a:rPr sz="1300" b="0">
                <a:solidFill>
                  <a:srgbClr val="5B6372"/>
                </a:solidFill>
                <a:latin typeface="Arial"/>
              </a:rPr>
              <a:t>to be completed by the trainer</a:t>
            </a:r>
          </a:p>
        </p:txBody>
      </p:sp>
      <p:sp>
        <p:nvSpPr>
          <p:cNvPr id="11" name="Rectangle 10"/>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4" name="Rectangle 13"/>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526792"/>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7" name="Rectangle 16"/>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270504"/>
            <a:ext cx="6437376" cy="57912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0" name="Rectangle 19"/>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014216"/>
            <a:ext cx="6437376" cy="57912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3" name="Rectangle 22"/>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4757928"/>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6" name="Rectangle 25"/>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754880" y="5501640"/>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profil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Principal Trainer</a:t>
            </a:r>
          </a:p>
          <a:p>
            <a:pPr algn="ctr">
              <a:spcAft>
                <a:spcPts val="400"/>
              </a:spcAft>
            </a:pPr>
            <a:r>
              <a:rPr sz="1300" b="0">
                <a:solidFill>
                  <a:srgbClr val="5B6372"/>
                </a:solidFill>
                <a:latin typeface="Arial"/>
              </a:rPr>
              <a:t>Tertiary Infotech Academy Pte. Ltd.</a:t>
            </a:r>
          </a:p>
        </p:txBody>
      </p:sp>
      <p:sp>
        <p:nvSpPr>
          <p:cNvPr id="11" name="Rectangle 10"/>
          <p:cNvSpPr/>
          <p:nvPr/>
        </p:nvSpPr>
        <p:spPr>
          <a:xfrm>
            <a:off x="4480560" y="1783080"/>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4" name="Rectangle 13"/>
          <p:cNvSpPr/>
          <p:nvPr/>
        </p:nvSpPr>
        <p:spPr>
          <a:xfrm>
            <a:off x="4480560" y="2675534"/>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675534"/>
            <a:ext cx="91440" cy="72786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675534"/>
            <a:ext cx="6437376" cy="727862"/>
          </a:xfrm>
          <a:prstGeom prst="rect">
            <a:avLst/>
          </a:prstGeom>
          <a:noFill/>
        </p:spPr>
        <p:txBody>
          <a:bodyPr wrap="square" anchor="ctr">
            <a:spAutoFit/>
          </a:bodyPr>
          <a:lstStyle/>
          <a:p>
            <a:pPr algn="l">
              <a:spcAft>
                <a:spcPts val="300"/>
              </a:spcAft>
            </a:pPr>
            <a:r>
              <a:rPr sz="1000" b="1">
                <a:solidFill>
                  <a:srgbClr val="10B981"/>
                </a:solidFill>
                <a:latin typeface="Arial"/>
              </a:rPr>
              <a:t>QUALIFICATIONS</a:t>
            </a:r>
          </a:p>
          <a:p>
            <a:pPr algn="l">
              <a:spcAft>
                <a:spcPts val="300"/>
              </a:spcAft>
            </a:pPr>
            <a:r>
              <a:rPr sz="1300" b="0">
                <a:solidFill>
                  <a:srgbClr val="161B26"/>
                </a:solidFill>
                <a:latin typeface="Arial"/>
              </a:rPr>
              <a:t>PhD; Certified Lean Six Sigma practitioner and trainer.</a:t>
            </a:r>
          </a:p>
        </p:txBody>
      </p:sp>
      <p:sp>
        <p:nvSpPr>
          <p:cNvPr id="17" name="Rectangle 16"/>
          <p:cNvSpPr/>
          <p:nvPr/>
        </p:nvSpPr>
        <p:spPr>
          <a:xfrm>
            <a:off x="4480560" y="3567988"/>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567988"/>
            <a:ext cx="91440" cy="72786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567988"/>
            <a:ext cx="6437376" cy="727862"/>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WSQ courses on Lean Six Sigma, quality management and data analytics.</a:t>
            </a:r>
          </a:p>
        </p:txBody>
      </p:sp>
      <p:sp>
        <p:nvSpPr>
          <p:cNvPr id="20" name="Rectangle 19"/>
          <p:cNvSpPr/>
          <p:nvPr/>
        </p:nvSpPr>
        <p:spPr>
          <a:xfrm>
            <a:off x="4480560" y="4460442"/>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460442"/>
            <a:ext cx="91440" cy="7278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460442"/>
            <a:ext cx="6437376" cy="727862"/>
          </a:xfrm>
          <a:prstGeom prst="rect">
            <a:avLst/>
          </a:prstGeom>
          <a:noFill/>
        </p:spPr>
        <p:txBody>
          <a:bodyPr wrap="square" anchor="ctr">
            <a:spAutoFit/>
          </a:bodyPr>
          <a:lstStyle/>
          <a:p>
            <a:pPr algn="l">
              <a:spcAft>
                <a:spcPts val="300"/>
              </a:spcAft>
            </a:pPr>
            <a:r>
              <a:rPr sz="1000" b="1">
                <a:solidFill>
                  <a:srgbClr val="F59E0B"/>
                </a:solidFill>
                <a:latin typeface="Arial"/>
              </a:rPr>
              <a:t>EXPERIENCE</a:t>
            </a:r>
          </a:p>
          <a:p>
            <a:pPr algn="l">
              <a:spcAft>
                <a:spcPts val="300"/>
              </a:spcAft>
            </a:pPr>
            <a:r>
              <a:rPr sz="1300" b="0">
                <a:solidFill>
                  <a:srgbClr val="161B26"/>
                </a:solidFill>
                <a:latin typeface="Arial"/>
              </a:rPr>
              <a:t>Process improvement across manufacturing, service and technology sectors.</a:t>
            </a:r>
          </a:p>
        </p:txBody>
      </p:sp>
      <p:sp>
        <p:nvSpPr>
          <p:cNvPr id="23" name="Rectangle 22"/>
          <p:cNvSpPr/>
          <p:nvPr/>
        </p:nvSpPr>
        <p:spPr>
          <a:xfrm>
            <a:off x="4480560" y="5352896"/>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5352896"/>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5352896"/>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Let's Know Each Other</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Your name, organisation and role.</a:t>
            </a:r>
          </a:p>
          <a:p>
            <a:pPr>
              <a:spcAft>
                <a:spcPts val="1000"/>
              </a:spcAft>
            </a:pPr>
            <a:r>
              <a:rPr sz="2000">
                <a:solidFill>
                  <a:srgbClr val="161B26"/>
                </a:solidFill>
                <a:latin typeface="Arial"/>
              </a:rPr>
              <a:t>•  Your experience with process improvement or quality work (if any).</a:t>
            </a:r>
          </a:p>
          <a:p>
            <a:pPr>
              <a:spcAft>
                <a:spcPts val="1000"/>
              </a:spcAft>
            </a:pPr>
            <a:r>
              <a:rPr sz="2000">
                <a:solidFill>
                  <a:srgbClr val="161B26"/>
                </a:solidFill>
                <a:latin typeface="Arial"/>
              </a:rPr>
              <a:t>•  One process at work that frustrates you — we may use it as your course scenario.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certification.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lms-tms.tertiaryinfotech.com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Download Your Course Material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Go to lms-tms.tertiaryinfotech.com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in with the account details given in class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this course from your dashboard</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Download the slides, Learner Guide and activity files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them open — the assessment is open book</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9:30am-6:30pm with a 1-hour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1 Day, 8 Hours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Morning — Foundations and Define</a:t>
            </a:r>
          </a:p>
          <a:p>
            <a:pPr>
              <a:spcAft>
                <a:spcPts val="1000"/>
              </a:spcAft>
            </a:pPr>
            <a:r>
              <a:rPr sz="1300">
                <a:solidFill>
                  <a:srgbClr val="5B6372"/>
                </a:solidFill>
                <a:latin typeface="Arial"/>
              </a:rPr>
              <a:t>–  Digital attendance (AM) · Introductions</a:t>
            </a:r>
          </a:p>
          <a:p>
            <a:pPr>
              <a:spcAft>
                <a:spcPts val="1000"/>
              </a:spcAft>
            </a:pPr>
            <a:r>
              <a:rPr sz="1300">
                <a:solidFill>
                  <a:srgbClr val="5B6372"/>
                </a:solidFill>
                <a:latin typeface="Arial"/>
              </a:rPr>
              <a:t>–  Foundations: Quality, Lean, Six Sigma, Lean Six Sigma</a:t>
            </a:r>
          </a:p>
          <a:p>
            <a:pPr>
              <a:spcAft>
                <a:spcPts val="1000"/>
              </a:spcAft>
            </a:pPr>
            <a:r>
              <a:rPr sz="1300">
                <a:solidFill>
                  <a:srgbClr val="5B6372"/>
                </a:solidFill>
                <a:latin typeface="Arial"/>
              </a:rPr>
              <a:t>–  Belt roles and the DMAIC roadmap</a:t>
            </a:r>
          </a:p>
          <a:p>
            <a:pPr>
              <a:spcAft>
                <a:spcPts val="1000"/>
              </a:spcAft>
            </a:pPr>
            <a:r>
              <a:rPr sz="1300">
                <a:solidFill>
                  <a:srgbClr val="5B6372"/>
                </a:solidFill>
                <a:latin typeface="Arial"/>
              </a:rPr>
              <a:t>–  DEFINE: VOC, CTQ, problem statement, SMART goal</a:t>
            </a:r>
          </a:p>
          <a:p>
            <a:pPr>
              <a:spcAft>
                <a:spcPts val="1000"/>
              </a:spcAft>
            </a:pPr>
            <a:r>
              <a:rPr sz="1300">
                <a:solidFill>
                  <a:srgbClr val="5B6372"/>
                </a:solidFill>
                <a:latin typeface="Arial"/>
              </a:rPr>
              <a:t>–  Activity 1 — Define: requirements and problem statement</a:t>
            </a:r>
          </a:p>
          <a:p>
            <a:pPr>
              <a:spcAft>
                <a:spcPts val="1000"/>
              </a:spcAft>
            </a:pPr>
            <a:r>
              <a:rPr sz="1300">
                <a:solidFill>
                  <a:srgbClr val="5B6372"/>
                </a:solidFill>
                <a:latin typeface="Arial"/>
              </a:rPr>
              <a:t>–  MEASURE: process mapping, SIPOC, data, the 8 wastes</a:t>
            </a:r>
          </a:p>
          <a:p>
            <a:pPr>
              <a:spcAft>
                <a:spcPts val="1000"/>
              </a:spcAft>
            </a:pPr>
            <a:r>
              <a:rPr sz="1300">
                <a:solidFill>
                  <a:srgbClr val="5B6372"/>
                </a:solidFill>
                <a:latin typeface="Arial"/>
              </a:rPr>
              <a:t>–  Activity 2 — Measure: map the process, spot the waste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Afternoon — Analyze, Improve, Control</a:t>
            </a:r>
          </a:p>
          <a:p>
            <a:pPr>
              <a:spcAft>
                <a:spcPts val="1000"/>
              </a:spcAft>
            </a:pPr>
            <a:r>
              <a:rPr sz="1300">
                <a:solidFill>
                  <a:srgbClr val="5B6372"/>
                </a:solidFill>
                <a:latin typeface="Arial"/>
              </a:rPr>
              <a:t>–  Digital attendance (PM)</a:t>
            </a:r>
          </a:p>
          <a:p>
            <a:pPr>
              <a:spcAft>
                <a:spcPts val="1000"/>
              </a:spcAft>
            </a:pPr>
            <a:r>
              <a:rPr sz="1300">
                <a:solidFill>
                  <a:srgbClr val="5B6372"/>
                </a:solidFill>
                <a:latin typeface="Arial"/>
              </a:rPr>
              <a:t>–  ANALYZE: root cause, 5 Whys, Fishbone, Pareto</a:t>
            </a:r>
          </a:p>
          <a:p>
            <a:pPr>
              <a:spcAft>
                <a:spcPts val="1000"/>
              </a:spcAft>
            </a:pPr>
            <a:r>
              <a:rPr sz="1300">
                <a:solidFill>
                  <a:srgbClr val="5B6372"/>
                </a:solidFill>
                <a:latin typeface="Arial"/>
              </a:rPr>
              <a:t>–  Activity 3 — Analyze: find the root cause</a:t>
            </a:r>
          </a:p>
          <a:p>
            <a:pPr>
              <a:spcAft>
                <a:spcPts val="1000"/>
              </a:spcAft>
            </a:pPr>
            <a:r>
              <a:rPr sz="1300">
                <a:solidFill>
                  <a:srgbClr val="5B6372"/>
                </a:solidFill>
                <a:latin typeface="Arial"/>
              </a:rPr>
              <a:t>–  IMPROVE: solutions, 5S, mistake proofing, piloting</a:t>
            </a:r>
          </a:p>
          <a:p>
            <a:pPr>
              <a:spcAft>
                <a:spcPts val="1000"/>
              </a:spcAft>
            </a:pPr>
            <a:r>
              <a:rPr sz="1300">
                <a:solidFill>
                  <a:srgbClr val="5B6372"/>
                </a:solidFill>
                <a:latin typeface="Arial"/>
              </a:rPr>
              <a:t>–  Activity 4 — Improve: choose and pilot a countermeasure</a:t>
            </a:r>
          </a:p>
          <a:p>
            <a:pPr>
              <a:spcAft>
                <a:spcPts val="1000"/>
              </a:spcAft>
            </a:pPr>
            <a:r>
              <a:rPr sz="1300">
                <a:solidFill>
                  <a:srgbClr val="5B6372"/>
                </a:solidFill>
                <a:latin typeface="Arial"/>
              </a:rPr>
              <a:t>–  CONTROL: control plan, visual management, handover</a:t>
            </a:r>
          </a:p>
          <a:p>
            <a:pPr>
              <a:spcAft>
                <a:spcPts val="1000"/>
              </a:spcAft>
            </a:pPr>
            <a:r>
              <a:rPr sz="1300">
                <a:solidFill>
                  <a:srgbClr val="5B6372"/>
                </a:solidFill>
                <a:latin typeface="Arial"/>
              </a:rPr>
              <a:t>–  Activity 5 — Control: hold the gain · Revision</a:t>
            </a:r>
          </a:p>
          <a:p>
            <a:pPr>
              <a:spcAft>
                <a:spcPts val="1000"/>
              </a:spcAft>
            </a:pPr>
            <a:r>
              <a:rPr sz="1300">
                <a:solidFill>
                  <a:srgbClr val="5B6372"/>
                </a:solidFill>
                <a:latin typeface="Arial"/>
              </a:rPr>
              <a:t>–  Briefing · Final Assessment (WA + CS)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SKILLS FRAMEWORK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Skills Framework — TSC: Quality Process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TSC Code: ELE-QUA-5006-1.1</a:t>
            </a:r>
          </a:p>
          <a:p>
            <a:pPr>
              <a:spcAft>
                <a:spcPts val="1000"/>
              </a:spcAft>
            </a:pPr>
            <a:r>
              <a:rPr sz="1600">
                <a:solidFill>
                  <a:srgbClr val="161B26"/>
                </a:solidFill>
                <a:latin typeface="Arial"/>
              </a:rPr>
              <a:t>•  A1: Support the definition of an improvement project to meet process performance.</a:t>
            </a:r>
          </a:p>
          <a:p>
            <a:pPr>
              <a:spcAft>
                <a:spcPts val="1000"/>
              </a:spcAft>
            </a:pPr>
            <a:r>
              <a:rPr sz="1600">
                <a:solidFill>
                  <a:srgbClr val="161B26"/>
                </a:solidFill>
                <a:latin typeface="Arial"/>
              </a:rPr>
              <a:t>•  A2: Assist in establishing the scope of work based on organisational requirements.</a:t>
            </a:r>
          </a:p>
          <a:p>
            <a:pPr>
              <a:spcAft>
                <a:spcPts val="1000"/>
              </a:spcAft>
            </a:pPr>
            <a:r>
              <a:rPr sz="1600">
                <a:solidFill>
                  <a:srgbClr val="161B26"/>
                </a:solidFill>
                <a:latin typeface="Arial"/>
              </a:rPr>
              <a:t>•  A3: Assist in analysing process performance data to identify causes of variation.</a:t>
            </a:r>
          </a:p>
          <a:p>
            <a:pPr>
              <a:spcAft>
                <a:spcPts val="1000"/>
              </a:spcAft>
            </a:pPr>
            <a:r>
              <a:rPr sz="1600">
                <a:solidFill>
                  <a:srgbClr val="161B26"/>
                </a:solidFill>
                <a:latin typeface="Arial"/>
              </a:rPr>
              <a:t>•  A4: Support the measurement of process performance against defined quality standards.</a:t>
            </a:r>
          </a:p>
          <a:p>
            <a:pPr>
              <a:spcAft>
                <a:spcPts val="1000"/>
              </a:spcAft>
            </a:pPr>
            <a:r>
              <a:rPr sz="1600">
                <a:solidFill>
                  <a:srgbClr val="161B26"/>
                </a:solidFill>
                <a:latin typeface="Arial"/>
              </a:rPr>
              <a:t>•  A5: Support improvement and control actions that sustain process performance.</a:t>
            </a:r>
          </a:p>
          <a:p>
            <a:pPr>
              <a:spcAft>
                <a:spcPts val="1000"/>
              </a:spcAft>
            </a:pPr>
            <a:r>
              <a:rPr sz="1600">
                <a:solidFill>
                  <a:srgbClr val="161B26"/>
                </a:solidFill>
                <a:latin typeface="Arial"/>
              </a:rPr>
              <a:t>•  K1: Basic Lean and Six Sigma concepts — quality, value, waste and variation.</a:t>
            </a:r>
          </a:p>
          <a:p>
            <a:pPr>
              <a:spcAft>
                <a:spcPts val="1000"/>
              </a:spcAft>
            </a:pPr>
            <a:r>
              <a:rPr sz="1600">
                <a:solidFill>
                  <a:srgbClr val="161B26"/>
                </a:solidFill>
                <a:latin typeface="Arial"/>
              </a:rPr>
              <a:t>•  K2: Basic quality tools used at each phase of the DMAIC roadmap.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Learning Outcomes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LO1 — Core concepts</a:t>
            </a:r>
          </a:p>
          <a:p>
            <a:pPr algn="l">
              <a:spcAft>
                <a:spcPts val="300"/>
              </a:spcAft>
            </a:pPr>
            <a:r>
              <a:rPr sz="1100" b="0">
                <a:solidFill>
                  <a:srgbClr val="5B6372"/>
                </a:solidFill>
                <a:latin typeface="Arial"/>
              </a:rPr>
              <a:t>Describe quality, Lean, Six Sigma and the belt roles in an improvement team.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LO2 — The DMAIC roadmap</a:t>
            </a:r>
          </a:p>
          <a:p>
            <a:pPr algn="l">
              <a:spcAft>
                <a:spcPts val="300"/>
              </a:spcAft>
            </a:pPr>
            <a:r>
              <a:rPr sz="1100" b="0">
                <a:solidFill>
                  <a:srgbClr val="5B6372"/>
                </a:solidFill>
                <a:latin typeface="Arial"/>
              </a:rPr>
              <a:t>Explain the five phases of DMAIC and what happens in each.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LO3 — Define</a:t>
            </a:r>
          </a:p>
          <a:p>
            <a:pPr algn="l">
              <a:spcAft>
                <a:spcPts val="300"/>
              </a:spcAft>
            </a:pPr>
            <a:r>
              <a:rPr sz="1100" b="0">
                <a:solidFill>
                  <a:srgbClr val="5B6372"/>
                </a:solidFill>
                <a:latin typeface="Arial"/>
              </a:rPr>
              <a:t>Identify customer requirements and a clear problem statement.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LO4 — Measure</a:t>
            </a:r>
          </a:p>
          <a:p>
            <a:pPr algn="l">
              <a:spcAft>
                <a:spcPts val="300"/>
              </a:spcAft>
            </a:pPr>
            <a:r>
              <a:rPr sz="1100" b="0">
                <a:solidFill>
                  <a:srgbClr val="5B6372"/>
                </a:solidFill>
                <a:latin typeface="Arial"/>
              </a:rPr>
              <a:t>Describe how a process is mapped and measured, and identify the 8 wastes.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LO5 — Analyze</a:t>
            </a:r>
          </a:p>
          <a:p>
            <a:pPr algn="l">
              <a:spcAft>
                <a:spcPts val="300"/>
              </a:spcAft>
            </a:pPr>
            <a:r>
              <a:rPr sz="1100" b="0">
                <a:solidFill>
                  <a:srgbClr val="5B6372"/>
                </a:solidFill>
                <a:latin typeface="Arial"/>
              </a:rPr>
              <a:t>Identify likely causes using 5 Whys and Fishbone analysis.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LO6 — Improve &amp; Control</a:t>
            </a:r>
          </a:p>
          <a:p>
            <a:pPr algn="l">
              <a:spcAft>
                <a:spcPts val="300"/>
              </a:spcAft>
            </a:pPr>
            <a:r>
              <a:rPr sz="1100" b="0">
                <a:solidFill>
                  <a:srgbClr val="5B6372"/>
                </a:solidFill>
                <a:latin typeface="Arial"/>
              </a:rPr>
              <a:t>Describe actions that fix a cause and hold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Outline — We Follow DMAIC End to End</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VOC and CTQ</a:t>
            </a:r>
          </a:p>
          <a:p>
            <a:pPr>
              <a:spcAft>
                <a:spcPts val="600"/>
              </a:spcAft>
            </a:pPr>
            <a:r>
              <a:rPr sz="1100">
                <a:solidFill>
                  <a:srgbClr val="161B26"/>
                </a:solidFill>
                <a:latin typeface="Arial"/>
              </a:rPr>
              <a:t>•  Problem statement</a:t>
            </a:r>
          </a:p>
          <a:p>
            <a:pPr>
              <a:spcAft>
                <a:spcPts val="600"/>
              </a:spcAft>
            </a:pPr>
            <a:r>
              <a:rPr sz="1100">
                <a:solidFill>
                  <a:srgbClr val="161B26"/>
                </a:solidFill>
                <a:latin typeface="Arial"/>
              </a:rPr>
              <a:t>•  SMART goal, charter</a:t>
            </a:r>
          </a:p>
          <a:p>
            <a:pPr>
              <a:spcAft>
                <a:spcPts val="600"/>
              </a:spcAft>
            </a:pPr>
            <a:r>
              <a:rPr sz="1100">
                <a:solidFill>
                  <a:srgbClr val="161B26"/>
                </a:solidFill>
                <a:latin typeface="Arial"/>
              </a:rPr>
              <a:t>•  Activity 1</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Process mapping, SIPOC</a:t>
            </a:r>
          </a:p>
          <a:p>
            <a:pPr>
              <a:spcAft>
                <a:spcPts val="600"/>
              </a:spcAft>
            </a:pPr>
            <a:r>
              <a:rPr sz="1100">
                <a:solidFill>
                  <a:srgbClr val="161B26"/>
                </a:solidFill>
                <a:latin typeface="Arial"/>
              </a:rPr>
              <a:t>•  Types of data</a:t>
            </a:r>
          </a:p>
          <a:p>
            <a:pPr>
              <a:spcAft>
                <a:spcPts val="600"/>
              </a:spcAft>
            </a:pPr>
            <a:r>
              <a:rPr sz="1100">
                <a:solidFill>
                  <a:srgbClr val="161B26"/>
                </a:solidFill>
                <a:latin typeface="Arial"/>
              </a:rPr>
              <a:t>•  The 8 wastes</a:t>
            </a:r>
          </a:p>
          <a:p>
            <a:pPr>
              <a:spcAft>
                <a:spcPts val="600"/>
              </a:spcAft>
            </a:pPr>
            <a:r>
              <a:rPr sz="1100">
                <a:solidFill>
                  <a:srgbClr val="161B26"/>
                </a:solidFill>
                <a:latin typeface="Arial"/>
              </a:rPr>
              <a:t>•  Activity 2</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Root cause</a:t>
            </a:r>
          </a:p>
          <a:p>
            <a:pPr>
              <a:spcAft>
                <a:spcPts val="600"/>
              </a:spcAft>
            </a:pPr>
            <a:r>
              <a:rPr sz="1100">
                <a:solidFill>
                  <a:srgbClr val="161B26"/>
                </a:solidFill>
                <a:latin typeface="Arial"/>
              </a:rPr>
              <a:t>•  5 Whys, Fishbone</a:t>
            </a:r>
          </a:p>
          <a:p>
            <a:pPr>
              <a:spcAft>
                <a:spcPts val="600"/>
              </a:spcAft>
            </a:pPr>
            <a:r>
              <a:rPr sz="1100">
                <a:solidFill>
                  <a:srgbClr val="161B26"/>
                </a:solidFill>
                <a:latin typeface="Arial"/>
              </a:rPr>
              <a:t>•  Pareto, variation</a:t>
            </a:r>
          </a:p>
          <a:p>
            <a:pPr>
              <a:spcAft>
                <a:spcPts val="600"/>
              </a:spcAft>
            </a:pPr>
            <a:r>
              <a:rPr sz="1100">
                <a:solidFill>
                  <a:srgbClr val="161B26"/>
                </a:solidFill>
                <a:latin typeface="Arial"/>
              </a:rPr>
              <a:t>•  Activity 3</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Generating solutions</a:t>
            </a:r>
          </a:p>
          <a:p>
            <a:pPr>
              <a:spcAft>
                <a:spcPts val="600"/>
              </a:spcAft>
            </a:pPr>
            <a:r>
              <a:rPr sz="1100">
                <a:solidFill>
                  <a:srgbClr val="161B26"/>
                </a:solidFill>
                <a:latin typeface="Arial"/>
              </a:rPr>
              <a:t>•  5S, mistake proofing</a:t>
            </a:r>
          </a:p>
          <a:p>
            <a:pPr>
              <a:spcAft>
                <a:spcPts val="600"/>
              </a:spcAft>
            </a:pPr>
            <a:r>
              <a:rPr sz="1100">
                <a:solidFill>
                  <a:srgbClr val="161B26"/>
                </a:solidFill>
                <a:latin typeface="Arial"/>
              </a:rPr>
              <a:t>•  Standard work, pilot</a:t>
            </a:r>
          </a:p>
          <a:p>
            <a:pPr>
              <a:spcAft>
                <a:spcPts val="600"/>
              </a:spcAft>
            </a:pPr>
            <a:r>
              <a:rPr sz="1100">
                <a:solidFill>
                  <a:srgbClr val="161B26"/>
                </a:solidFill>
                <a:latin typeface="Arial"/>
              </a:rPr>
              <a:t>•  Activity 4</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SOPs and handover</a:t>
            </a:r>
          </a:p>
          <a:p>
            <a:pPr>
              <a:spcAft>
                <a:spcPts val="600"/>
              </a:spcAft>
            </a:pPr>
            <a:r>
              <a:rPr sz="1100">
                <a:solidFill>
                  <a:srgbClr val="161B26"/>
                </a:solidFill>
                <a:latin typeface="Arial"/>
              </a:rPr>
              <a:t>•  Activity 5</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BEFORE YOU SIT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Briefing for Assessment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Phones away</a:t>
            </a:r>
          </a:p>
          <a:p>
            <a:pPr algn="l">
              <a:spcAft>
                <a:spcPts val="300"/>
              </a:spcAft>
            </a:pPr>
            <a:r>
              <a:rPr sz="1100" b="0">
                <a:solidFill>
                  <a:srgbClr val="5B6372"/>
                </a:solidFill>
                <a:latin typeface="Arial"/>
              </a:rPr>
              <a:t>Place phones and other materials under the table or on the floor.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No recording</a:t>
            </a:r>
          </a:p>
          <a:p>
            <a:pPr algn="l">
              <a:spcAft>
                <a:spcPts val="300"/>
              </a:spcAft>
            </a:pPr>
            <a:r>
              <a:rPr sz="1100" b="0">
                <a:solidFill>
                  <a:srgbClr val="5B6372"/>
                </a:solidFill>
                <a:latin typeface="Arial"/>
              </a:rPr>
              <a:t>No photos or recording of assessment scripts.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Work alone</a:t>
            </a:r>
          </a:p>
          <a:p>
            <a:pPr algn="l">
              <a:spcAft>
                <a:spcPts val="300"/>
              </a:spcAft>
            </a:pPr>
            <a:r>
              <a:rPr sz="1100" b="0">
                <a:solidFill>
                  <a:srgbClr val="5B6372"/>
                </a:solidFill>
                <a:latin typeface="Arial"/>
              </a:rPr>
              <a:t>No discussion of any kind during the assessment.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Black or blue pen</a:t>
            </a:r>
          </a:p>
          <a:p>
            <a:pPr algn="l">
              <a:spcAft>
                <a:spcPts val="300"/>
              </a:spcAft>
            </a:pPr>
            <a:r>
              <a:rPr sz="1100" b="0">
                <a:solidFill>
                  <a:srgbClr val="5B6372"/>
                </a:solidFill>
                <a:latin typeface="Arial"/>
              </a:rPr>
              <a:t>Use a black or blue pen for hard-copy assessments.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No correction fluid</a:t>
            </a:r>
          </a:p>
          <a:p>
            <a:pPr algn="l">
              <a:spcAft>
                <a:spcPts val="300"/>
              </a:spcAft>
            </a:pPr>
            <a:r>
              <a:rPr sz="1100" b="0">
                <a:solidFill>
                  <a:srgbClr val="5B6372"/>
                </a:solidFill>
                <a:latin typeface="Arial"/>
              </a:rPr>
              <a:t>No liquid paper or correction tape on your script.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Pens down on time</a:t>
            </a:r>
          </a:p>
          <a:p>
            <a:pPr algn="l">
              <a:spcAft>
                <a:spcPts val="300"/>
              </a:spcAft>
            </a:pPr>
            <a:r>
              <a:rPr sz="1100" b="0">
                <a:solidFill>
                  <a:srgbClr val="5B6372"/>
                </a:solidFill>
                <a:latin typeface="Arial"/>
              </a:rPr>
              <a:t>Scripts are collected as soon as time is up.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FINAL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Written Assessment (WA)</a:t>
            </a:r>
          </a:p>
          <a:p>
            <a:pPr algn="l">
              <a:spcAft>
                <a:spcPts val="300"/>
              </a:spcAft>
            </a:pPr>
            <a:r>
              <a:rPr sz="1100" b="0">
                <a:solidFill>
                  <a:srgbClr val="5B6372"/>
                </a:solidFill>
                <a:latin typeface="Arial"/>
              </a:rPr>
              <a:t>Written Assessment (WA) — Short-Answer Questions (SAQ), 30 minutes, open book.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Case Study (CS)</a:t>
            </a:r>
          </a:p>
          <a:p>
            <a:pPr algn="l">
              <a:spcAft>
                <a:spcPts val="300"/>
              </a:spcAft>
            </a:pPr>
            <a:r>
              <a:rPr sz="1100" b="0">
                <a:solidFill>
                  <a:srgbClr val="5B6372"/>
                </a:solidFill>
                <a:latin typeface="Arial"/>
              </a:rPr>
              <a:t>Case Study (CS) — applied Lean Six Sigma scenario tasks, 30 minutes, open book.</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Open book</a:t>
            </a:r>
          </a:p>
          <a:p>
            <a:pPr algn="l">
              <a:spcAft>
                <a:spcPts val="300"/>
              </a:spcAft>
            </a:pPr>
            <a:r>
              <a:rPr sz="1100" b="0">
                <a:solidFill>
                  <a:srgbClr val="5B6372"/>
                </a:solidFill>
                <a:latin typeface="Arial"/>
              </a:rPr>
              <a:t>Slides, Learner Guide, your activity outputs and approved materials only.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Attendance</a:t>
            </a:r>
          </a:p>
          <a:p>
            <a:pPr algn="l">
              <a:spcAft>
                <a:spcPts val="300"/>
              </a:spcAft>
            </a:pPr>
            <a:r>
              <a:rPr sz="1100" b="0">
                <a:solidFill>
                  <a:srgbClr val="5B6372"/>
                </a:solidFill>
                <a:latin typeface="Arial"/>
              </a:rPr>
              <a:t>A minimum of 75% attendance is required to be eligible for assessment and funding.</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Result</a:t>
            </a:r>
          </a:p>
          <a:p>
            <a:pPr algn="l">
              <a:spcAft>
                <a:spcPts val="300"/>
              </a:spcAft>
            </a:pPr>
            <a:r>
              <a:rPr sz="1100" b="0">
                <a:solidFill>
                  <a:srgbClr val="5B6372"/>
                </a:solidFill>
                <a:latin typeface="Arial"/>
              </a:rPr>
              <a:t>Graded Competent (C) or Not Yet Competent (NYC) by the assessor.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Appeals</a:t>
            </a:r>
          </a:p>
          <a:p>
            <a:pPr algn="l">
              <a:spcAft>
                <a:spcPts val="300"/>
              </a:spcAft>
            </a:pPr>
            <a:r>
              <a:rPr sz="1100" b="0">
                <a:solidFill>
                  <a:srgbClr val="5B6372"/>
                </a:solidFill>
                <a:latin typeface="Arial"/>
              </a:rPr>
              <a:t>An appeal process is available if you wish to contest a result.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Six Sigma Foundations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Quality · Lean · Six Sigma · Lean Six Sigma · Belt roles · The DMAIC roadmap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FOUNDATIONS · QUALITY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Quality?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Before we can improve quality, we have to agree what the word actually means.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IS QUALITY?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Common Answers — and Why Only One Holds Up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Defect-free output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zero defects"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Necessary, but not sufficient.</a:t>
            </a:r>
          </a:p>
          <a:p>
            <a:pPr>
              <a:spcAft>
                <a:spcPts val="700"/>
              </a:spcAft>
            </a:pPr>
            <a:r>
              <a:rPr sz="1200">
                <a:solidFill>
                  <a:srgbClr val="161B26"/>
                </a:solidFill>
                <a:latin typeface="Arial"/>
              </a:rPr>
              <a:t>•  A product can be flawless and still not sell.</a:t>
            </a:r>
          </a:p>
          <a:p>
            <a:pPr>
              <a:spcAft>
                <a:spcPts val="700"/>
              </a:spcAft>
            </a:pPr>
            <a:r>
              <a:rPr sz="1200">
                <a:solidFill>
                  <a:srgbClr val="161B26"/>
                </a:solidFill>
                <a:latin typeface="Arial"/>
              </a:rPr>
              <a:t>•  Defect-free against WHOSE standard?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Meeting set standards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meeting the spec"</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Better — it is measurable.</a:t>
            </a:r>
          </a:p>
          <a:p>
            <a:pPr>
              <a:spcAft>
                <a:spcPts val="700"/>
              </a:spcAft>
            </a:pPr>
            <a:r>
              <a:rPr sz="1200">
                <a:solidFill>
                  <a:srgbClr val="161B26"/>
                </a:solidFill>
                <a:latin typeface="Arial"/>
              </a:rPr>
              <a:t>•  But a spec can be set at the wrong level.</a:t>
            </a:r>
          </a:p>
          <a:p>
            <a:pPr>
              <a:spcAft>
                <a:spcPts val="700"/>
              </a:spcAft>
            </a:pPr>
            <a:r>
              <a:rPr sz="1200">
                <a:solidFill>
                  <a:srgbClr val="161B26"/>
                </a:solidFill>
                <a:latin typeface="Arial"/>
              </a:rPr>
              <a:t>•  Meeting a spec nobody wants is waste.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Meeting customer expectations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the customer is satisfied"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This is the Six Sigma definition.</a:t>
            </a:r>
          </a:p>
          <a:p>
            <a:pPr>
              <a:spcAft>
                <a:spcPts val="700"/>
              </a:spcAft>
            </a:pPr>
            <a:r>
              <a:rPr sz="1200">
                <a:solidFill>
                  <a:srgbClr val="161B26"/>
                </a:solidFill>
                <a:latin typeface="Arial"/>
              </a:rPr>
              <a:t>•  The customer sets the standard.</a:t>
            </a:r>
          </a:p>
          <a:p>
            <a:pPr>
              <a:spcAft>
                <a:spcPts val="700"/>
              </a:spcAft>
            </a:pPr>
            <a:r>
              <a:rPr sz="1200">
                <a:solidFill>
                  <a:srgbClr val="161B26"/>
                </a:solidFill>
                <a:latin typeface="Arial"/>
              </a:rPr>
              <a:t>•  Everything else follows from this.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FOUNDATIONS · LEAN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Lean?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Lean maximises customer value by systematically removing everything the customer would not pay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IS LEAN?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The Toyota Production System — refined in Japanese manufacturing from the 1950s.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Speed and flow: shorten the time from customer request to delivery.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Waste (muda) — any effort that consumes resources but creates no customer value.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See the process, find the waste, remove it, then standardise the improvement.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Applies to</a:t>
            </a:r>
          </a:p>
          <a:p>
            <a:pPr algn="l">
              <a:spcAft>
                <a:spcPts val="300"/>
              </a:spcAft>
            </a:pPr>
            <a:r>
              <a:rPr sz="1100" b="0">
                <a:solidFill>
                  <a:srgbClr val="5B6372"/>
                </a:solidFill>
                <a:latin typeface="Arial"/>
              </a:rPr>
              <a:t>Manufacturing AND service — hospitals, banks, IT service desks, government.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White Belt use</a:t>
            </a:r>
          </a:p>
          <a:p>
            <a:pPr algn="l">
              <a:spcAft>
                <a:spcPts val="300"/>
              </a:spcAft>
            </a:pPr>
            <a:r>
              <a:rPr sz="1100" b="0">
                <a:solidFill>
                  <a:srgbClr val="5B6372"/>
                </a:solidFill>
                <a:latin typeface="Arial"/>
              </a:rPr>
              <a:t>Recognising waste, understanding process maps and supporting 5S in your own area.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LEAN · FIVE PRINCIPLES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Lean Principles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Specify VALUE from the customer's point of view</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Map the VALUE STREAM and expose the waste in it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Create FLOW so work moves without interruption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Let the customer PULL work rather than pushing 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Pursue PERFECTION through continuous improvement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FOUNDATIONS · SIX SIGMA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Six Sigma?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disciplined, data-driven method to reduce variation and defects — so the process delivers the same result every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IS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Motorola, 1986 — later made famous by General Electric under Jack Welch.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Consistency: reduce the variation that creates defects.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Variation — the spread that turns a good average into an unreliable experience.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DMAIC, driven by data and statistics rather than opinion.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target</a:t>
            </a:r>
          </a:p>
          <a:p>
            <a:pPr algn="l">
              <a:spcAft>
                <a:spcPts val="300"/>
              </a:spcAft>
            </a:pPr>
            <a:r>
              <a:rPr sz="1100" b="0">
                <a:solidFill>
                  <a:srgbClr val="5B6372"/>
                </a:solidFill>
                <a:latin typeface="Arial"/>
              </a:rPr>
              <a:t>No more than 3.4 defects per million opportunities (DPMO).</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White Belt use</a:t>
            </a:r>
          </a:p>
          <a:p>
            <a:pPr algn="l">
              <a:spcAft>
                <a:spcPts val="300"/>
              </a:spcAft>
            </a:pPr>
            <a:r>
              <a:rPr sz="1100" b="0">
                <a:solidFill>
                  <a:srgbClr val="5B6372"/>
                </a:solidFill>
                <a:latin typeface="Arial"/>
              </a:rPr>
              <a:t>Helping collect data and taking part in root cause discussions.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COMBINED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vs Six Sigma vs Lean Six Sigma</a:t>
            </a:r>
          </a:p>
        </p:txBody>
      </p:sp>
      <p:sp>
        <p:nvSpPr>
          <p:cNvPr id="6" name="Rectangle 5"/>
          <p:cNvSpPr/>
          <p:nvPr/>
        </p:nvSpPr>
        <p:spPr>
          <a:xfrm>
            <a:off x="7772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397763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84832"/>
            <a:ext cx="3520439" cy="457200"/>
          </a:xfrm>
          <a:prstGeom prst="rect">
            <a:avLst/>
          </a:prstGeom>
          <a:noFill/>
        </p:spPr>
        <p:txBody>
          <a:bodyPr wrap="square" anchor="t">
            <a:spAutoFit/>
          </a:bodyPr>
          <a:lstStyle/>
          <a:p>
            <a:pPr algn="l">
              <a:spcAft>
                <a:spcPts val="400"/>
              </a:spcAft>
            </a:pPr>
            <a:r>
              <a:rPr sz="2200" b="1">
                <a:solidFill>
                  <a:srgbClr val="1F6FEB"/>
                </a:solidFill>
                <a:latin typeface="Arial"/>
              </a:rPr>
              <a:t>Lean</a:t>
            </a:r>
          </a:p>
        </p:txBody>
      </p:sp>
      <p:sp>
        <p:nvSpPr>
          <p:cNvPr id="9" name="TextBox 8"/>
          <p:cNvSpPr txBox="1"/>
          <p:nvPr/>
        </p:nvSpPr>
        <p:spPr>
          <a:xfrm>
            <a:off x="10058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Removes waste</a:t>
            </a:r>
          </a:p>
          <a:p>
            <a:pPr>
              <a:spcAft>
                <a:spcPts val="700"/>
              </a:spcAft>
            </a:pPr>
            <a:r>
              <a:rPr sz="1300">
                <a:solidFill>
                  <a:srgbClr val="161B26"/>
                </a:solidFill>
                <a:latin typeface="Arial"/>
              </a:rPr>
              <a:t>•  Improves speed and flow</a:t>
            </a:r>
          </a:p>
          <a:p>
            <a:pPr>
              <a:spcAft>
                <a:spcPts val="700"/>
              </a:spcAft>
            </a:pPr>
            <a:r>
              <a:rPr sz="1300">
                <a:solidFill>
                  <a:srgbClr val="161B26"/>
                </a:solidFill>
                <a:latin typeface="Arial"/>
              </a:rPr>
              <a:t>•  Question: is this step worth doing?</a:t>
            </a:r>
          </a:p>
          <a:p>
            <a:pPr>
              <a:spcAft>
                <a:spcPts val="700"/>
              </a:spcAft>
            </a:pPr>
            <a:r>
              <a:rPr sz="1300">
                <a:solidFill>
                  <a:srgbClr val="161B26"/>
                </a:solidFill>
                <a:latin typeface="Arial"/>
              </a:rPr>
              <a:t>•  Tools: VSM, 5S, Kaizen, poka-yoke</a:t>
            </a:r>
          </a:p>
        </p:txBody>
      </p:sp>
      <p:sp>
        <p:nvSpPr>
          <p:cNvPr id="10" name="Rectangle 9"/>
          <p:cNvSpPr/>
          <p:nvPr/>
        </p:nvSpPr>
        <p:spPr>
          <a:xfrm>
            <a:off x="74066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06640" y="1828800"/>
            <a:ext cx="39776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35240" y="2084832"/>
            <a:ext cx="3520439" cy="457200"/>
          </a:xfrm>
          <a:prstGeom prst="rect">
            <a:avLst/>
          </a:prstGeom>
          <a:noFill/>
        </p:spPr>
        <p:txBody>
          <a:bodyPr wrap="square" anchor="t">
            <a:spAutoFit/>
          </a:bodyPr>
          <a:lstStyle/>
          <a:p>
            <a:pPr algn="l">
              <a:spcAft>
                <a:spcPts val="400"/>
              </a:spcAft>
            </a:pPr>
            <a:r>
              <a:rPr sz="2200" b="1">
                <a:solidFill>
                  <a:srgbClr val="10B981"/>
                </a:solidFill>
                <a:latin typeface="Arial"/>
              </a:rPr>
              <a:t>Six Sigma</a:t>
            </a:r>
          </a:p>
        </p:txBody>
      </p:sp>
      <p:sp>
        <p:nvSpPr>
          <p:cNvPr id="13" name="TextBox 12"/>
          <p:cNvSpPr txBox="1"/>
          <p:nvPr/>
        </p:nvSpPr>
        <p:spPr>
          <a:xfrm>
            <a:off x="76352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Reduces variation</a:t>
            </a:r>
          </a:p>
          <a:p>
            <a:pPr>
              <a:spcAft>
                <a:spcPts val="700"/>
              </a:spcAft>
            </a:pPr>
            <a:r>
              <a:rPr sz="1300">
                <a:solidFill>
                  <a:srgbClr val="161B26"/>
                </a:solidFill>
                <a:latin typeface="Arial"/>
              </a:rPr>
              <a:t>•  Improves consistency and accuracy</a:t>
            </a:r>
          </a:p>
          <a:p>
            <a:pPr>
              <a:spcAft>
                <a:spcPts val="700"/>
              </a:spcAft>
            </a:pPr>
            <a:r>
              <a:rPr sz="1300">
                <a:solidFill>
                  <a:srgbClr val="161B26"/>
                </a:solidFill>
                <a:latin typeface="Arial"/>
              </a:rPr>
              <a:t>•  Question: why does the result vary?</a:t>
            </a:r>
          </a:p>
          <a:p>
            <a:pPr>
              <a:spcAft>
                <a:spcPts val="700"/>
              </a:spcAft>
            </a:pPr>
            <a:r>
              <a:rPr sz="1300">
                <a:solidFill>
                  <a:srgbClr val="161B26"/>
                </a:solidFill>
                <a:latin typeface="Arial"/>
              </a:rPr>
              <a:t>•  Tools: DMAIC, Pareto, SPC, root cause</a:t>
            </a:r>
          </a:p>
        </p:txBody>
      </p:sp>
      <p:sp>
        <p:nvSpPr>
          <p:cNvPr id="14" name="TextBox 13"/>
          <p:cNvSpPr txBox="1"/>
          <p:nvPr/>
        </p:nvSpPr>
        <p:spPr>
          <a:xfrm>
            <a:off x="5120640" y="2606040"/>
            <a:ext cx="1920240" cy="731520"/>
          </a:xfrm>
          <a:prstGeom prst="rect">
            <a:avLst/>
          </a:prstGeom>
          <a:noFill/>
        </p:spPr>
        <p:txBody>
          <a:bodyPr wrap="square" anchor="ctr">
            <a:spAutoFit/>
          </a:bodyPr>
          <a:lstStyle/>
          <a:p>
            <a:pPr algn="ctr">
              <a:spcAft>
                <a:spcPts val="400"/>
              </a:spcAft>
            </a:pPr>
            <a:r>
              <a:rPr sz="4400" b="1">
                <a:solidFill>
                  <a:srgbClr val="5B6372"/>
                </a:solidFill>
                <a:latin typeface="Arial"/>
              </a:rPr>
              <a:t>+</a:t>
            </a:r>
          </a:p>
        </p:txBody>
      </p:sp>
      <p:sp>
        <p:nvSpPr>
          <p:cNvPr id="15" name="TextBox 14"/>
          <p:cNvSpPr txBox="1"/>
          <p:nvPr/>
        </p:nvSpPr>
        <p:spPr>
          <a:xfrm>
            <a:off x="777240" y="4315968"/>
            <a:ext cx="10607040" cy="365760"/>
          </a:xfrm>
          <a:prstGeom prst="rect">
            <a:avLst/>
          </a:prstGeom>
          <a:noFill/>
        </p:spPr>
        <p:txBody>
          <a:bodyPr wrap="square" anchor="t">
            <a:spAutoFit/>
          </a:bodyPr>
          <a:lstStyle/>
          <a:p>
            <a:pPr algn="ctr">
              <a:spcAft>
                <a:spcPts val="400"/>
              </a:spcAft>
            </a:pPr>
            <a:r>
              <a:rPr sz="1600" b="1">
                <a:solidFill>
                  <a:srgbClr val="5B6372"/>
                </a:solidFill>
                <a:latin typeface="Arial"/>
              </a:rPr>
              <a:t>▼</a:t>
            </a:r>
          </a:p>
        </p:txBody>
      </p:sp>
      <p:sp>
        <p:nvSpPr>
          <p:cNvPr id="16" name="Rectangle 15"/>
          <p:cNvSpPr/>
          <p:nvPr/>
        </p:nvSpPr>
        <p:spPr>
          <a:xfrm>
            <a:off x="2194560" y="4709160"/>
            <a:ext cx="777240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77440" y="4709160"/>
            <a:ext cx="7406640" cy="1298448"/>
          </a:xfrm>
          <a:prstGeom prst="rect">
            <a:avLst/>
          </a:prstGeom>
          <a:noFill/>
        </p:spPr>
        <p:txBody>
          <a:bodyPr wrap="square" anchor="ctr">
            <a:spAutoFit/>
          </a:bodyPr>
          <a:lstStyle/>
          <a:p>
            <a:pPr algn="ctr">
              <a:spcAft>
                <a:spcPts val="400"/>
              </a:spcAft>
            </a:pPr>
            <a:r>
              <a:rPr sz="2200" b="1">
                <a:solidFill>
                  <a:srgbClr val="FFFFFF"/>
                </a:solidFill>
                <a:latin typeface="Arial"/>
              </a:rPr>
              <a:t>Lean Six Sigma</a:t>
            </a:r>
          </a:p>
          <a:p>
            <a:pPr algn="ctr">
              <a:spcAft>
                <a:spcPts val="400"/>
              </a:spcAft>
            </a:pPr>
            <a:r>
              <a:rPr sz="1300" b="0">
                <a:solidFill>
                  <a:srgbClr val="FFFFFF"/>
                </a:solidFill>
                <a:latin typeface="Arial"/>
              </a:rPr>
              <a:t>Faster AND more consistent — remove the waste, then control the variation that remains.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DOES WHAT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Lean Six Sigma Belt Pathway</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White Belt</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Awareness of Six Sigma; supports local problem solving</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Yellow Belt</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Knows the basic tools; supports projects and runs small improvements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Green Belt</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Leads smaller projects; assists Black Belts with analysis</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Black Belt</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Leads complex projects full time; coaches Green and Yellow Belts</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Trains and mentors Belts; owns deployment strategy</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This course certifies you at White Belt — awareness of Lean Six Sigma and support for local problem solving.</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COURSE ROADMAP · WE FOLLOW THIS ORDER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Define the problem</a:t>
            </a:r>
          </a:p>
          <a:p>
            <a:pPr>
              <a:spcAft>
                <a:spcPts val="600"/>
              </a:spcAft>
            </a:pPr>
            <a:r>
              <a:rPr sz="1100">
                <a:solidFill>
                  <a:srgbClr val="161B26"/>
                </a:solidFill>
                <a:latin typeface="Arial"/>
              </a:rPr>
              <a:t>•  Capture VOC and CTQ</a:t>
            </a:r>
          </a:p>
          <a:p>
            <a:pPr>
              <a:spcAft>
                <a:spcPts val="600"/>
              </a:spcAft>
            </a:pPr>
            <a:r>
              <a:rPr sz="1100">
                <a:solidFill>
                  <a:srgbClr val="161B26"/>
                </a:solidFill>
                <a:latin typeface="Arial"/>
              </a:rPr>
              <a:t>•  Charter and scope</a:t>
            </a:r>
          </a:p>
          <a:p>
            <a:pPr>
              <a:spcAft>
                <a:spcPts val="600"/>
              </a:spcAft>
            </a:pPr>
            <a:r>
              <a:rPr sz="1100">
                <a:solidFill>
                  <a:srgbClr val="161B26"/>
                </a:solidFill>
                <a:latin typeface="Arial"/>
              </a:rPr>
              <a:t>•  Map with SIPOC</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Plan data collection</a:t>
            </a:r>
          </a:p>
          <a:p>
            <a:pPr>
              <a:spcAft>
                <a:spcPts val="600"/>
              </a:spcAft>
            </a:pPr>
            <a:r>
              <a:rPr sz="1100">
                <a:solidFill>
                  <a:srgbClr val="161B26"/>
                </a:solidFill>
                <a:latin typeface="Arial"/>
              </a:rPr>
              <a:t>•  Measure the baseline</a:t>
            </a:r>
          </a:p>
          <a:p>
            <a:pPr>
              <a:spcAft>
                <a:spcPts val="600"/>
              </a:spcAft>
            </a:pPr>
            <a:r>
              <a:rPr sz="1100">
                <a:solidFill>
                  <a:srgbClr val="161B26"/>
                </a:solidFill>
                <a:latin typeface="Arial"/>
              </a:rPr>
              <a:t>•  Calculate yield/DPMO</a:t>
            </a:r>
          </a:p>
          <a:p>
            <a:pPr>
              <a:spcAft>
                <a:spcPts val="600"/>
              </a:spcAft>
            </a:pPr>
            <a:r>
              <a:rPr sz="1100">
                <a:solidFill>
                  <a:srgbClr val="161B26"/>
                </a:solidFill>
                <a:latin typeface="Arial"/>
              </a:rPr>
              <a:t>•  Find the waste</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Analyse the data</a:t>
            </a:r>
          </a:p>
          <a:p>
            <a:pPr>
              <a:spcAft>
                <a:spcPts val="600"/>
              </a:spcAft>
            </a:pPr>
            <a:r>
              <a:rPr sz="1100">
                <a:solidFill>
                  <a:srgbClr val="161B26"/>
                </a:solidFill>
                <a:latin typeface="Arial"/>
              </a:rPr>
              <a:t>•  Pareto analysis</a:t>
            </a:r>
          </a:p>
          <a:p>
            <a:pPr>
              <a:spcAft>
                <a:spcPts val="600"/>
              </a:spcAft>
            </a:pPr>
            <a:r>
              <a:rPr sz="1100">
                <a:solidFill>
                  <a:srgbClr val="161B26"/>
                </a:solidFill>
                <a:latin typeface="Arial"/>
              </a:rPr>
              <a:t>•  5 Whys and Fishbone</a:t>
            </a:r>
          </a:p>
          <a:p>
            <a:pPr>
              <a:spcAft>
                <a:spcPts val="600"/>
              </a:spcAft>
            </a:pPr>
            <a:r>
              <a:rPr sz="1100">
                <a:solidFill>
                  <a:srgbClr val="161B26"/>
                </a:solidFill>
                <a:latin typeface="Arial"/>
              </a:rPr>
              <a:t>•  Find the root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 solutions</a:t>
            </a:r>
          </a:p>
          <a:p>
            <a:pPr>
              <a:spcAft>
                <a:spcPts val="600"/>
              </a:spcAft>
            </a:pPr>
            <a:r>
              <a:rPr sz="1100">
                <a:solidFill>
                  <a:srgbClr val="161B26"/>
                </a:solidFill>
                <a:latin typeface="Arial"/>
              </a:rPr>
              <a:t>•  Select and pilot</a:t>
            </a:r>
          </a:p>
          <a:p>
            <a:pPr>
              <a:spcAft>
                <a:spcPts val="600"/>
              </a:spcAft>
            </a:pPr>
            <a:r>
              <a:rPr sz="1100">
                <a:solidFill>
                  <a:srgbClr val="161B26"/>
                </a:solidFill>
                <a:latin typeface="Arial"/>
              </a:rPr>
              <a:t>•  5S and poka-yoke</a:t>
            </a:r>
          </a:p>
          <a:p>
            <a:pPr>
              <a:spcAft>
                <a:spcPts val="600"/>
              </a:spcAft>
            </a:pPr>
            <a:r>
              <a:rPr sz="1100">
                <a:solidFill>
                  <a:srgbClr val="161B26"/>
                </a:solidFill>
                <a:latin typeface="Arial"/>
              </a:rPr>
              <a:t>•  Standardise the work</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Build the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Hand over to the owner</a:t>
            </a:r>
          </a:p>
          <a:p>
            <a:pPr>
              <a:spcAft>
                <a:spcPts val="600"/>
              </a:spcAft>
            </a:pPr>
            <a:r>
              <a:rPr sz="1100">
                <a:solidFill>
                  <a:srgbClr val="161B26"/>
                </a:solidFill>
                <a:latin typeface="Arial"/>
              </a:rPr>
              <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DEFINE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 Understand the Problem</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Voice of the Customer · CTQ · Problem statement · SMART goal · Project charter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Voice of the Customer</a:t>
            </a:r>
          </a:p>
          <a:p>
            <a:pPr algn="l">
              <a:spcAft>
                <a:spcPts val="300"/>
              </a:spcAft>
            </a:pPr>
            <a:r>
              <a:rPr sz="1100" b="0">
                <a:solidFill>
                  <a:srgbClr val="5B6372"/>
                </a:solidFill>
                <a:latin typeface="Arial"/>
              </a:rPr>
              <a:t>Ask customers what they need, and record it in their own words.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Critical to Quality</a:t>
            </a:r>
          </a:p>
          <a:p>
            <a:pPr algn="l">
              <a:spcAft>
                <a:spcPts val="300"/>
              </a:spcAft>
            </a:pPr>
            <a:r>
              <a:rPr sz="1100" b="0">
                <a:solidFill>
                  <a:srgbClr val="5B6372"/>
                </a:solidFill>
                <a:latin typeface="Arial"/>
              </a:rPr>
              <a:t>Turn each customer need into something specific you can measure.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where, since when, and how big — never the solution.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SMART goal</a:t>
            </a:r>
          </a:p>
          <a:p>
            <a:pPr algn="l">
              <a:spcAft>
                <a:spcPts val="300"/>
              </a:spcAft>
            </a:pPr>
            <a:r>
              <a:rPr sz="1100" b="0">
                <a:solidFill>
                  <a:srgbClr val="5B6372"/>
                </a:solidFill>
                <a:latin typeface="Arial"/>
              </a:rPr>
              <a:t>Specific, Measurable, Achievable, Relevant and Time-bound.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Project charter</a:t>
            </a:r>
          </a:p>
          <a:p>
            <a:pPr algn="l">
              <a:spcAft>
                <a:spcPts val="300"/>
              </a:spcAft>
            </a:pPr>
            <a:r>
              <a:rPr sz="1100" b="0">
                <a:solidFill>
                  <a:srgbClr val="5B6372"/>
                </a:solidFill>
                <a:latin typeface="Arial"/>
              </a:rPr>
              <a:t>A one-page summary of the problem, goal, scope and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Agreeing what is in and out keeps a small project small.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DMAIC · D — DEFINE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 What problem are we solving, and for whom?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Define phase converts a vague complaint into a scoped, measurable problem statement everyone agrees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Define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Capture the Voice of the Customer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Translate VOC into CTQ requirements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Write the problem and goal statements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Charter and scope the project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Map the process with SIPOC</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 VOC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Voice of the Customer (VOC)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needs and expectations of the customer, expressed in the customer's own language.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SOURCES OF VOC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VOC Comes From</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Surveys</a:t>
            </a:r>
          </a:p>
          <a:p>
            <a:pPr algn="l">
              <a:spcAft>
                <a:spcPts val="300"/>
              </a:spcAft>
            </a:pPr>
            <a:r>
              <a:rPr sz="1200" b="0">
                <a:solidFill>
                  <a:srgbClr val="5B6372"/>
                </a:solidFill>
                <a:latin typeface="Arial"/>
              </a:rPr>
              <a:t>Structured and at scale, but limited to the questions you thought to ask.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Interviews</a:t>
            </a:r>
          </a:p>
          <a:p>
            <a:pPr algn="l">
              <a:spcAft>
                <a:spcPts val="300"/>
              </a:spcAft>
            </a:pPr>
            <a:r>
              <a:rPr sz="1200" b="0">
                <a:solidFill>
                  <a:srgbClr val="5B6372"/>
                </a:solidFill>
                <a:latin typeface="Arial"/>
              </a:rPr>
              <a:t>Rich and open-ended; best for understanding the 'why' behind a complaint.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Complaints &amp; reviews</a:t>
            </a:r>
          </a:p>
          <a:p>
            <a:pPr algn="l">
              <a:spcAft>
                <a:spcPts val="300"/>
              </a:spcAft>
            </a:pPr>
            <a:r>
              <a:rPr sz="1200" b="0">
                <a:solidFill>
                  <a:srgbClr val="5B6372"/>
                </a:solidFill>
                <a:latin typeface="Arial"/>
              </a:rPr>
              <a:t>Already coming in unprompted — the cheapest and most honest VOC source.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Direct observation</a:t>
            </a:r>
          </a:p>
          <a:p>
            <a:pPr algn="l">
              <a:spcAft>
                <a:spcPts val="300"/>
              </a:spcAft>
            </a:pPr>
            <a:r>
              <a:rPr sz="1200" b="0">
                <a:solidFill>
                  <a:srgbClr val="5B6372"/>
                </a:solidFill>
                <a:latin typeface="Arial"/>
              </a:rPr>
              <a:t>Go and watch the work happen; customers cannot always articulate the problem.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CTQ TRANSLATION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VOC → Need → CTQ: The Translation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F59E0B"/>
                </a:solidFill>
                <a:latin typeface="Arial"/>
              </a:rPr>
              <a:t>Voice of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Critical to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The customer says (VOC)</a:t>
            </a:r>
          </a:p>
          <a:p>
            <a:pPr>
              <a:spcAft>
                <a:spcPts val="1000"/>
              </a:spcAft>
            </a:pPr>
            <a:r>
              <a:rPr sz="1300">
                <a:solidFill>
                  <a:srgbClr val="5B6372"/>
                </a:solidFill>
                <a:latin typeface="Arial"/>
              </a:rPr>
              <a:t>–  "I don't want to wait too long"</a:t>
            </a:r>
          </a:p>
          <a:p>
            <a:pPr>
              <a:spcAft>
                <a:spcPts val="1000"/>
              </a:spcAft>
            </a:pPr>
            <a:r>
              <a:rPr sz="1300">
                <a:solidFill>
                  <a:srgbClr val="5B6372"/>
                </a:solidFill>
                <a:latin typeface="Arial"/>
              </a:rPr>
              <a:t>–  "I don't want cold pizza"</a:t>
            </a:r>
          </a:p>
          <a:p>
            <a:pPr>
              <a:spcAft>
                <a:spcPts val="1000"/>
              </a:spcAft>
            </a:pPr>
            <a:r>
              <a:rPr sz="1300">
                <a:solidFill>
                  <a:srgbClr val="5B6372"/>
                </a:solidFill>
                <a:latin typeface="Arial"/>
              </a:rPr>
              <a:t>–  "I never know how long the wait will be"</a:t>
            </a:r>
          </a:p>
          <a:p>
            <a:pPr>
              <a:spcAft>
                <a:spcPts val="1000"/>
              </a:spcAft>
            </a:pPr>
            <a:r>
              <a:rPr sz="1300">
                <a:solidFill>
                  <a:srgbClr val="5B6372"/>
                </a:solidFill>
                <a:latin typeface="Arial"/>
              </a:rPr>
              <a:t>–  Vague, emotional, unmeasurable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The measurable requirement (CTQ)</a:t>
            </a:r>
          </a:p>
          <a:p>
            <a:pPr>
              <a:spcAft>
                <a:spcPts val="1000"/>
              </a:spcAft>
            </a:pPr>
            <a:r>
              <a:rPr sz="1300">
                <a:solidFill>
                  <a:srgbClr val="5B6372"/>
                </a:solidFill>
                <a:latin typeface="Arial"/>
              </a:rPr>
              <a:t>–  Delivery in 30 minutes or less</a:t>
            </a:r>
          </a:p>
          <a:p>
            <a:pPr>
              <a:spcAft>
                <a:spcPts val="1000"/>
              </a:spcAft>
            </a:pPr>
            <a:r>
              <a:rPr sz="1300">
                <a:solidFill>
                  <a:srgbClr val="5B6372"/>
                </a:solidFill>
                <a:latin typeface="Arial"/>
              </a:rPr>
              <a:t>–  Pizza at 32°C minimum on arrival</a:t>
            </a:r>
          </a:p>
          <a:p>
            <a:pPr>
              <a:spcAft>
                <a:spcPts val="1000"/>
              </a:spcAft>
            </a:pPr>
            <a:r>
              <a:rPr sz="1300">
                <a:solidFill>
                  <a:srgbClr val="5B6372"/>
                </a:solidFill>
                <a:latin typeface="Arial"/>
              </a:rPr>
              <a:t>–  Wait time displayed, 5 minutes or less</a:t>
            </a:r>
          </a:p>
          <a:p>
            <a:pPr>
              <a:spcAft>
                <a:spcPts val="1000"/>
              </a:spcAft>
            </a:pPr>
            <a:r>
              <a:rPr sz="1300">
                <a:solidFill>
                  <a:srgbClr val="5B6372"/>
                </a:solidFill>
                <a:latin typeface="Arial"/>
              </a:rPr>
              <a:t>–  Specific, numeric, testable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CTQ QUALITY CHECK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CTQ?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Specific</a:t>
            </a:r>
          </a:p>
          <a:p>
            <a:pPr algn="l">
              <a:spcAft>
                <a:spcPts val="300"/>
              </a:spcAft>
            </a:pPr>
            <a:r>
              <a:rPr sz="1200" b="0">
                <a:solidFill>
                  <a:srgbClr val="5B6372"/>
                </a:solidFill>
                <a:latin typeface="Arial"/>
              </a:rPr>
              <a:t>Names exactly one characteristic of the output.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Measurable</a:t>
            </a:r>
          </a:p>
          <a:p>
            <a:pPr algn="l">
              <a:spcAft>
                <a:spcPts val="300"/>
              </a:spcAft>
            </a:pPr>
            <a:r>
              <a:rPr sz="1200" b="0">
                <a:solidFill>
                  <a:srgbClr val="5B6372"/>
                </a:solidFill>
                <a:latin typeface="Arial"/>
              </a:rPr>
              <a:t>Has a number and a unit you can actually record.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Linked to VOC</a:t>
            </a:r>
          </a:p>
          <a:p>
            <a:pPr algn="l">
              <a:spcAft>
                <a:spcPts val="300"/>
              </a:spcAft>
            </a:pPr>
            <a:r>
              <a:rPr sz="1200" b="0">
                <a:solidFill>
                  <a:srgbClr val="5B6372"/>
                </a:solidFill>
                <a:latin typeface="Arial"/>
              </a:rPr>
              <a:t>Traces back to something a customer genuinely said.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Has a target and limit</a:t>
            </a:r>
          </a:p>
          <a:p>
            <a:pPr algn="l">
              <a:spcAft>
                <a:spcPts val="300"/>
              </a:spcAft>
            </a:pPr>
            <a:r>
              <a:rPr sz="1200" b="0">
                <a:solidFill>
                  <a:srgbClr val="5B6372"/>
                </a:solidFill>
                <a:latin typeface="Arial"/>
              </a:rPr>
              <a:t>States the target value and the acceptable range around it.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THE PROJECT'S CONTRACT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Project Charter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Business case</a:t>
            </a:r>
          </a:p>
          <a:p>
            <a:pPr algn="l">
              <a:spcAft>
                <a:spcPts val="300"/>
              </a:spcAft>
            </a:pPr>
            <a:r>
              <a:rPr sz="1100" b="0">
                <a:solidFill>
                  <a:srgbClr val="5B6372"/>
                </a:solidFill>
                <a:latin typeface="Arial"/>
              </a:rPr>
              <a:t>Why this project matters and what it is worth.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quantified, over a stated time period.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 statement</a:t>
            </a:r>
          </a:p>
          <a:p>
            <a:pPr algn="l">
              <a:spcAft>
                <a:spcPts val="300"/>
              </a:spcAft>
            </a:pPr>
            <a:r>
              <a:rPr sz="1100" b="0">
                <a:solidFill>
                  <a:srgbClr val="5B6372"/>
                </a:solidFill>
                <a:latin typeface="Arial"/>
              </a:rPr>
              <a:t>Metric, baseline, target and date.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What is in, and explicitly what is out.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and roles</a:t>
            </a:r>
          </a:p>
          <a:p>
            <a:pPr algn="l">
              <a:spcAft>
                <a:spcPts val="300"/>
              </a:spcAft>
            </a:pPr>
            <a:r>
              <a:rPr sz="1100" b="0">
                <a:solidFill>
                  <a:srgbClr val="5B6372"/>
                </a:solidFill>
                <a:latin typeface="Arial"/>
              </a:rPr>
              <a:t>Sponsor, project leader, White and Yellow Belt support, and subject matter experts.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Milestones</a:t>
            </a:r>
          </a:p>
          <a:p>
            <a:pPr algn="l">
              <a:spcAft>
                <a:spcPts val="300"/>
              </a:spcAft>
            </a:pPr>
            <a:r>
              <a:rPr sz="1100" b="0">
                <a:solidFill>
                  <a:srgbClr val="5B6372"/>
                </a:solidFill>
                <a:latin typeface="Arial"/>
              </a:rPr>
              <a:t>The dates each DMAIC phase is expected to complete.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WRITING THE PROBLEM STATEMENT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Statements — Good vs Bad</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Avoid this</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Aim for this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Weak problem statement</a:t>
            </a:r>
          </a:p>
          <a:p>
            <a:pPr>
              <a:spcAft>
                <a:spcPts val="1000"/>
              </a:spcAft>
            </a:pPr>
            <a:r>
              <a:rPr sz="1300">
                <a:solidFill>
                  <a:srgbClr val="5B6372"/>
                </a:solidFill>
                <a:latin typeface="Arial"/>
              </a:rPr>
              <a:t>–  "The morning queue is too slow."</a:t>
            </a:r>
          </a:p>
          <a:p>
            <a:pPr>
              <a:spcAft>
                <a:spcPts val="1000"/>
              </a:spcAft>
            </a:pPr>
            <a:r>
              <a:rPr sz="1300">
                <a:solidFill>
                  <a:srgbClr val="5B6372"/>
                </a:solidFill>
                <a:latin typeface="Arial"/>
              </a:rPr>
              <a:t>–  No process named</a:t>
            </a:r>
          </a:p>
          <a:p>
            <a:pPr>
              <a:spcAft>
                <a:spcPts val="1000"/>
              </a:spcAft>
            </a:pPr>
            <a:r>
              <a:rPr sz="1300">
                <a:solidFill>
                  <a:srgbClr val="5B6372"/>
                </a:solidFill>
                <a:latin typeface="Arial"/>
              </a:rPr>
              <a:t>–  No time period</a:t>
            </a:r>
          </a:p>
          <a:p>
            <a:pPr>
              <a:spcAft>
                <a:spcPts val="1000"/>
              </a:spcAft>
            </a:pPr>
            <a:r>
              <a:rPr sz="1300">
                <a:solidFill>
                  <a:srgbClr val="5B6372"/>
                </a:solidFill>
                <a:latin typeface="Arial"/>
              </a:rPr>
              <a:t>–  No measure or baseline</a:t>
            </a:r>
          </a:p>
          <a:p>
            <a:pPr>
              <a:spcAft>
                <a:spcPts val="1000"/>
              </a:spcAft>
            </a:pPr>
            <a:r>
              <a:rPr sz="1300">
                <a:solidFill>
                  <a:srgbClr val="5B6372"/>
                </a:solidFill>
                <a:latin typeface="Arial"/>
              </a:rPr>
              <a:t>–  No customer impact stated</a:t>
            </a:r>
          </a:p>
          <a:p>
            <a:pPr>
              <a:spcAft>
                <a:spcPts val="1000"/>
              </a:spcAft>
            </a:pPr>
            <a:r>
              <a:rPr sz="1300">
                <a:solidFill>
                  <a:srgbClr val="5B6372"/>
                </a:solidFill>
                <a:latin typeface="Arial"/>
              </a:rPr>
              <a:t>–  Hints at a solution ("we need more staff")</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Strong problem statement</a:t>
            </a:r>
          </a:p>
          <a:p>
            <a:pPr>
              <a:spcAft>
                <a:spcPts val="1000"/>
              </a:spcAft>
            </a:pPr>
            <a:r>
              <a:rPr sz="1300">
                <a:solidFill>
                  <a:srgbClr val="5B6372"/>
                </a:solidFill>
                <a:latin typeface="Arial"/>
              </a:rPr>
              <a:t>–  "Between 1 and 31 March, customers served between 7:30am and 9:00am waited an average of 11.5 minutes against a 5-minute target, affecting 38% of morning customers and generating 24 online complaints."</a:t>
            </a:r>
          </a:p>
          <a:p>
            <a:pPr>
              <a:spcAft>
                <a:spcPts val="1000"/>
              </a:spcAft>
            </a:pPr>
            <a:r>
              <a:rPr sz="1300">
                <a:solidFill>
                  <a:srgbClr val="5B6372"/>
                </a:solidFill>
                <a:latin typeface="Arial"/>
              </a:rPr>
              <a:t>–  Process, period, measure, baseline and impact — and no solution.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DEFINE · SIPOC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SIPOC — the macro 'as-is' map</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page that shows who supplies the process, what goes in, what happens, what comes out, and who receives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 BrewBean Cafe Morning Rush</a:t>
            </a:r>
          </a:p>
        </p:txBody>
      </p:sp>
      <p:sp>
        <p:nvSpPr>
          <p:cNvPr id="6" name="Rectangle 5"/>
          <p:cNvSpPr/>
          <p:nvPr/>
        </p:nvSpPr>
        <p:spPr>
          <a:xfrm>
            <a:off x="77724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2009851"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S — Suppliers</a:t>
            </a:r>
          </a:p>
        </p:txBody>
      </p:sp>
      <p:sp>
        <p:nvSpPr>
          <p:cNvPr id="9" name="TextBox 8"/>
          <p:cNvSpPr txBox="1"/>
          <p:nvPr/>
        </p:nvSpPr>
        <p:spPr>
          <a:xfrm>
            <a:off x="923544" y="2560320"/>
            <a:ext cx="1717243" cy="2404872"/>
          </a:xfrm>
          <a:prstGeom prst="rect">
            <a:avLst/>
          </a:prstGeom>
          <a:noFill/>
        </p:spPr>
        <p:txBody>
          <a:bodyPr wrap="square">
            <a:spAutoFit/>
          </a:bodyPr>
          <a:lstStyle/>
          <a:p>
            <a:pPr>
              <a:spcAft>
                <a:spcPts val="700"/>
              </a:spcAft>
            </a:pPr>
            <a:r>
              <a:rPr sz="1200">
                <a:solidFill>
                  <a:srgbClr val="161B26"/>
                </a:solidFill>
                <a:latin typeface="Arial"/>
              </a:rPr>
              <a:t>•  Coffee bean supplier</a:t>
            </a:r>
          </a:p>
          <a:p>
            <a:pPr>
              <a:spcAft>
                <a:spcPts val="700"/>
              </a:spcAft>
            </a:pPr>
            <a:r>
              <a:rPr sz="1200">
                <a:solidFill>
                  <a:srgbClr val="161B26"/>
                </a:solidFill>
                <a:latin typeface="Arial"/>
              </a:rPr>
              <a:t>•  Dairy supplier</a:t>
            </a:r>
          </a:p>
          <a:p>
            <a:pPr>
              <a:spcAft>
                <a:spcPts val="700"/>
              </a:spcAft>
            </a:pPr>
            <a:r>
              <a:rPr sz="1200">
                <a:solidFill>
                  <a:srgbClr val="161B26"/>
                </a:solidFill>
                <a:latin typeface="Arial"/>
              </a:rPr>
              <a:t>•  Cup and lid supplier</a:t>
            </a:r>
          </a:p>
          <a:p>
            <a:pPr>
              <a:spcAft>
                <a:spcPts val="700"/>
              </a:spcAft>
            </a:pPr>
            <a:r>
              <a:rPr sz="1200">
                <a:solidFill>
                  <a:srgbClr val="161B26"/>
                </a:solidFill>
                <a:latin typeface="Arial"/>
              </a:rPr>
              <a:t>•  Barista team</a:t>
            </a:r>
          </a:p>
        </p:txBody>
      </p:sp>
      <p:sp>
        <p:nvSpPr>
          <p:cNvPr id="10" name="TextBox 9"/>
          <p:cNvSpPr txBox="1"/>
          <p:nvPr/>
        </p:nvSpPr>
        <p:spPr>
          <a:xfrm>
            <a:off x="278709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1" name="Rectangle 10"/>
          <p:cNvSpPr/>
          <p:nvPr/>
        </p:nvSpPr>
        <p:spPr>
          <a:xfrm>
            <a:off x="293339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33395" y="1828800"/>
            <a:ext cx="2009851"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3339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I — Inputs</a:t>
            </a:r>
          </a:p>
        </p:txBody>
      </p:sp>
      <p:sp>
        <p:nvSpPr>
          <p:cNvPr id="14" name="TextBox 13"/>
          <p:cNvSpPr txBox="1"/>
          <p:nvPr/>
        </p:nvSpPr>
        <p:spPr>
          <a:xfrm>
            <a:off x="3079699" y="2560320"/>
            <a:ext cx="1717243" cy="2404872"/>
          </a:xfrm>
          <a:prstGeom prst="rect">
            <a:avLst/>
          </a:prstGeom>
          <a:noFill/>
        </p:spPr>
        <p:txBody>
          <a:bodyPr wrap="square">
            <a:spAutoFit/>
          </a:bodyPr>
          <a:lstStyle/>
          <a:p>
            <a:pPr>
              <a:spcAft>
                <a:spcPts val="700"/>
              </a:spcAft>
            </a:pPr>
            <a:r>
              <a:rPr sz="1200">
                <a:solidFill>
                  <a:srgbClr val="161B26"/>
                </a:solidFill>
                <a:latin typeface="Arial"/>
              </a:rPr>
              <a:t>•  Order details</a:t>
            </a:r>
          </a:p>
          <a:p>
            <a:pPr>
              <a:spcAft>
                <a:spcPts val="700"/>
              </a:spcAft>
            </a:pPr>
            <a:r>
              <a:rPr sz="1200">
                <a:solidFill>
                  <a:srgbClr val="161B26"/>
                </a:solidFill>
                <a:latin typeface="Arial"/>
              </a:rPr>
              <a:t>•  Coffee beans</a:t>
            </a:r>
          </a:p>
          <a:p>
            <a:pPr>
              <a:spcAft>
                <a:spcPts val="700"/>
              </a:spcAft>
            </a:pPr>
            <a:r>
              <a:rPr sz="1200">
                <a:solidFill>
                  <a:srgbClr val="161B26"/>
                </a:solidFill>
                <a:latin typeface="Arial"/>
              </a:rPr>
              <a:t>•  Milk</a:t>
            </a:r>
          </a:p>
          <a:p>
            <a:pPr>
              <a:spcAft>
                <a:spcPts val="700"/>
              </a:spcAft>
            </a:pPr>
            <a:r>
              <a:rPr sz="1200">
                <a:solidFill>
                  <a:srgbClr val="161B26"/>
                </a:solidFill>
                <a:latin typeface="Arial"/>
              </a:rPr>
              <a:t>•  Cups and lids</a:t>
            </a:r>
          </a:p>
          <a:p>
            <a:pPr>
              <a:spcAft>
                <a:spcPts val="700"/>
              </a:spcAft>
            </a:pPr>
            <a:r>
              <a:rPr sz="1200">
                <a:solidFill>
                  <a:srgbClr val="161B26"/>
                </a:solidFill>
                <a:latin typeface="Arial"/>
              </a:rPr>
              <a:t>•  Payment</a:t>
            </a:r>
          </a:p>
        </p:txBody>
      </p:sp>
      <p:sp>
        <p:nvSpPr>
          <p:cNvPr id="15" name="TextBox 14"/>
          <p:cNvSpPr txBox="1"/>
          <p:nvPr/>
        </p:nvSpPr>
        <p:spPr>
          <a:xfrm>
            <a:off x="494324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6" name="Rectangle 15"/>
          <p:cNvSpPr/>
          <p:nvPr/>
        </p:nvSpPr>
        <p:spPr>
          <a:xfrm>
            <a:off x="508955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89550" y="1828800"/>
            <a:ext cx="2009851"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8955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P — Process</a:t>
            </a:r>
          </a:p>
        </p:txBody>
      </p:sp>
      <p:sp>
        <p:nvSpPr>
          <p:cNvPr id="19" name="TextBox 18"/>
          <p:cNvSpPr txBox="1"/>
          <p:nvPr/>
        </p:nvSpPr>
        <p:spPr>
          <a:xfrm>
            <a:off x="5235854" y="2560320"/>
            <a:ext cx="1717243" cy="2404872"/>
          </a:xfrm>
          <a:prstGeom prst="rect">
            <a:avLst/>
          </a:prstGeom>
          <a:noFill/>
        </p:spPr>
        <p:txBody>
          <a:bodyPr wrap="square">
            <a:spAutoFit/>
          </a:bodyPr>
          <a:lstStyle/>
          <a:p>
            <a:pPr>
              <a:spcAft>
                <a:spcPts val="700"/>
              </a:spcAft>
            </a:pPr>
            <a:r>
              <a:rPr sz="1200">
                <a:solidFill>
                  <a:srgbClr val="161B26"/>
                </a:solidFill>
                <a:latin typeface="Arial"/>
              </a:rPr>
              <a:t>•  1. Customer joins queue</a:t>
            </a:r>
          </a:p>
          <a:p>
            <a:pPr>
              <a:spcAft>
                <a:spcPts val="700"/>
              </a:spcAft>
            </a:pPr>
            <a:r>
              <a:rPr sz="1200">
                <a:solidFill>
                  <a:srgbClr val="161B26"/>
                </a:solidFill>
                <a:latin typeface="Arial"/>
              </a:rPr>
              <a:t>•  2. Order taken</a:t>
            </a:r>
          </a:p>
          <a:p>
            <a:pPr>
              <a:spcAft>
                <a:spcPts val="700"/>
              </a:spcAft>
            </a:pPr>
            <a:r>
              <a:rPr sz="1200">
                <a:solidFill>
                  <a:srgbClr val="161B26"/>
                </a:solidFill>
                <a:latin typeface="Arial"/>
              </a:rPr>
              <a:t>•  3. Payment made</a:t>
            </a:r>
          </a:p>
          <a:p>
            <a:pPr>
              <a:spcAft>
                <a:spcPts val="700"/>
              </a:spcAft>
            </a:pPr>
            <a:r>
              <a:rPr sz="1200">
                <a:solidFill>
                  <a:srgbClr val="161B26"/>
                </a:solidFill>
                <a:latin typeface="Arial"/>
              </a:rPr>
              <a:t>•  4. Drink prepared</a:t>
            </a:r>
          </a:p>
          <a:p>
            <a:pPr>
              <a:spcAft>
                <a:spcPts val="700"/>
              </a:spcAft>
            </a:pPr>
            <a:r>
              <a:rPr sz="1200">
                <a:solidFill>
                  <a:srgbClr val="161B26"/>
                </a:solidFill>
                <a:latin typeface="Arial"/>
              </a:rPr>
              <a:t>•  5. Drink handed over</a:t>
            </a:r>
          </a:p>
        </p:txBody>
      </p:sp>
      <p:sp>
        <p:nvSpPr>
          <p:cNvPr id="20" name="TextBox 19"/>
          <p:cNvSpPr txBox="1"/>
          <p:nvPr/>
        </p:nvSpPr>
        <p:spPr>
          <a:xfrm>
            <a:off x="709940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1" name="Rectangle 20"/>
          <p:cNvSpPr/>
          <p:nvPr/>
        </p:nvSpPr>
        <p:spPr>
          <a:xfrm>
            <a:off x="724570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45705" y="1828800"/>
            <a:ext cx="2009851"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4570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O — Outputs</a:t>
            </a:r>
          </a:p>
        </p:txBody>
      </p:sp>
      <p:sp>
        <p:nvSpPr>
          <p:cNvPr id="24" name="TextBox 23"/>
          <p:cNvSpPr txBox="1"/>
          <p:nvPr/>
        </p:nvSpPr>
        <p:spPr>
          <a:xfrm>
            <a:off x="7392009" y="2560320"/>
            <a:ext cx="1717243" cy="2404872"/>
          </a:xfrm>
          <a:prstGeom prst="rect">
            <a:avLst/>
          </a:prstGeom>
          <a:noFill/>
        </p:spPr>
        <p:txBody>
          <a:bodyPr wrap="square">
            <a:spAutoFit/>
          </a:bodyPr>
          <a:lstStyle/>
          <a:p>
            <a:pPr>
              <a:spcAft>
                <a:spcPts val="700"/>
              </a:spcAft>
            </a:pPr>
            <a:r>
              <a:rPr sz="1200">
                <a:solidFill>
                  <a:srgbClr val="161B26"/>
                </a:solidFill>
                <a:latin typeface="Arial"/>
              </a:rPr>
              <a:t>•  Prepared drink</a:t>
            </a:r>
          </a:p>
          <a:p>
            <a:pPr>
              <a:spcAft>
                <a:spcPts val="700"/>
              </a:spcAft>
            </a:pPr>
            <a:r>
              <a:rPr sz="1200">
                <a:solidFill>
                  <a:srgbClr val="161B26"/>
                </a:solidFill>
                <a:latin typeface="Arial"/>
              </a:rPr>
              <a:t>•  Receipt</a:t>
            </a:r>
          </a:p>
          <a:p>
            <a:pPr>
              <a:spcAft>
                <a:spcPts val="700"/>
              </a:spcAft>
            </a:pPr>
            <a:r>
              <a:rPr sz="1200">
                <a:solidFill>
                  <a:srgbClr val="161B26"/>
                </a:solidFill>
                <a:latin typeface="Arial"/>
              </a:rPr>
              <a:t>•  Order called out</a:t>
            </a:r>
          </a:p>
        </p:txBody>
      </p:sp>
      <p:sp>
        <p:nvSpPr>
          <p:cNvPr id="25" name="TextBox 24"/>
          <p:cNvSpPr txBox="1"/>
          <p:nvPr/>
        </p:nvSpPr>
        <p:spPr>
          <a:xfrm>
            <a:off x="925555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6" name="Rectangle 25"/>
          <p:cNvSpPr/>
          <p:nvPr/>
        </p:nvSpPr>
        <p:spPr>
          <a:xfrm>
            <a:off x="940186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401860" y="1828800"/>
            <a:ext cx="2009851" cy="566928"/>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40186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C — Customers</a:t>
            </a:r>
          </a:p>
        </p:txBody>
      </p:sp>
      <p:sp>
        <p:nvSpPr>
          <p:cNvPr id="29" name="TextBox 28"/>
          <p:cNvSpPr txBox="1"/>
          <p:nvPr/>
        </p:nvSpPr>
        <p:spPr>
          <a:xfrm>
            <a:off x="9548164" y="2560320"/>
            <a:ext cx="1717243" cy="2404872"/>
          </a:xfrm>
          <a:prstGeom prst="rect">
            <a:avLst/>
          </a:prstGeom>
          <a:noFill/>
        </p:spPr>
        <p:txBody>
          <a:bodyPr wrap="square">
            <a:spAutoFit/>
          </a:bodyPr>
          <a:lstStyle/>
          <a:p>
            <a:pPr>
              <a:spcAft>
                <a:spcPts val="700"/>
              </a:spcAft>
            </a:pPr>
            <a:r>
              <a:rPr sz="1200">
                <a:solidFill>
                  <a:srgbClr val="161B26"/>
                </a:solidFill>
                <a:latin typeface="Arial"/>
              </a:rPr>
              <a:t>•  Walk-in customer</a:t>
            </a:r>
          </a:p>
          <a:p>
            <a:pPr>
              <a:spcAft>
                <a:spcPts val="700"/>
              </a:spcAft>
            </a:pPr>
            <a:r>
              <a:rPr sz="1200">
                <a:solidFill>
                  <a:srgbClr val="161B26"/>
                </a:solidFill>
                <a:latin typeface="Arial"/>
              </a:rPr>
              <a:t>•  Regular customer</a:t>
            </a:r>
          </a:p>
          <a:p>
            <a:pPr>
              <a:spcAft>
                <a:spcPts val="700"/>
              </a:spcAft>
            </a:pPr>
            <a:r>
              <a:rPr sz="1200">
                <a:solidFill>
                  <a:srgbClr val="161B26"/>
                </a:solidFill>
                <a:latin typeface="Arial"/>
              </a:rPr>
              <a:t>•  Office group orders</a:t>
            </a:r>
          </a:p>
        </p:txBody>
      </p:sp>
      <p:sp>
        <p:nvSpPr>
          <p:cNvPr id="30" name="TextBox 29"/>
          <p:cNvSpPr txBox="1"/>
          <p:nvPr/>
        </p:nvSpPr>
        <p:spPr>
          <a:xfrm>
            <a:off x="777240" y="5532120"/>
            <a:ext cx="10634472" cy="457200"/>
          </a:xfrm>
          <a:prstGeom prst="rect">
            <a:avLst/>
          </a:prstGeom>
          <a:noFill/>
        </p:spPr>
        <p:txBody>
          <a:bodyPr wrap="square" anchor="t">
            <a:spAutoFit/>
          </a:bodyPr>
          <a:lstStyle/>
          <a:p>
            <a:pPr algn="ctr">
              <a:spcAft>
                <a:spcPts val="400"/>
              </a:spcAft>
            </a:pPr>
            <a:r>
              <a:rPr sz="1300" b="0">
                <a:solidFill>
                  <a:srgbClr val="5B6372"/>
                </a:solidFill>
                <a:latin typeface="Arial"/>
              </a:rPr>
              <a:t>Read left to right: suppliers provide the inputs, the process transforms them, and the outputs go to the customers.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Define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Activity 1 — Define — Customer Requirements and the Problem</a:t>
            </a:r>
          </a:p>
          <a:p>
            <a:pPr algn="l">
              <a:spcAft>
                <a:spcPts val="300"/>
              </a:spcAft>
            </a:pPr>
            <a:r>
              <a:rPr sz="1100" b="0">
                <a:solidFill>
                  <a:srgbClr val="5B6372"/>
                </a:solidFill>
                <a:latin typeface="Arial"/>
              </a:rPr>
              <a:t>A VOC-to-CTQ table, a written problem statement, a SMART goal and a si</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Start the BrewBean Cafe improvement the way every real project starts: find out what the customer actually wants, turn that into something measurable, and state the problem clearly enough that everyone agrees on it. The most common reason improvement projects fail is that the team never agreed what the problem was.</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VOC-to-CTQ table, a written problem statement, a SMART goal and a simple scope table.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Voice of the Customer, CTQ, problem statement, SMART goal, project scope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Activity 1</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Raw Voice of the Customer feedback</a:t>
            </a:r>
          </a:p>
          <a:p>
            <a:pPr algn="l">
              <a:spcAft>
                <a:spcPts val="300"/>
              </a:spcAft>
            </a:pPr>
            <a:r>
              <a:rPr sz="1000" b="0">
                <a:solidFill>
                  <a:srgbClr val="5B6372"/>
                </a:solidFill>
                <a:latin typeface="Arial"/>
              </a:rPr>
              <a:t>30 rows — voc-raw-customer-feedback.csv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2 blank templates</a:t>
            </a:r>
          </a:p>
          <a:p>
            <a:pPr algn="l">
              <a:spcAft>
                <a:spcPts val="300"/>
              </a:spcAft>
            </a:pPr>
            <a:r>
              <a:rPr sz="1000" b="0">
                <a:solidFill>
                  <a:srgbClr val="5B6372"/>
                </a:solidFill>
                <a:latin typeface="Arial"/>
              </a:rPr>
              <a:t>Worksheets to fill in — one per step group</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A01-Data-Workbook.xlsx</a:t>
            </a:r>
          </a:p>
          <a:p>
            <a:pPr algn="l">
              <a:spcAft>
                <a:spcPts val="300"/>
              </a:spcAft>
            </a:pPr>
            <a:r>
              <a:rPr sz="1000" b="0">
                <a:solidFill>
                  <a:srgbClr val="5B6372"/>
                </a:solidFill>
                <a:latin typeface="Arial"/>
              </a:rPr>
              <a:t>Every dataset and template, one per tab</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DEFINE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Read the BrewBean Cafe scenario, then open data/voc-raw-customer-feedback.csv (or the workbook) and read all 30 pieces of customer feedback. Underline every complaint you can find.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templates/voc-to-ctq-template.csv, write down five Voice of the Customer statements in the customer's OWN words, quoted from the Verbatim Comment column — do not paraphrase them yet.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DEFINE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Turn each VOC statement into a measurable CTQ requirement in the same template — every CTQ must carry a number AND a unit (e.g. 'served within 5 minutes').</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templates/problem-statement-and-scope-template.csv, write the problem statement: what is wrong, where, since when, and how big. Do NOT write a solution.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DEFINE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your problem statement against the SMART test and rewrite the goal so it is Specific, Measurable, Achievable, Relevant and Time-bound.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Fill the in-scope / out-of-scope rows at the bottom of the same template so the team knows where the project stops.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has a number and a unit, your problem statement contains no solution, and your goal has a metric, a baseline, a target and a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Define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Voice of the Customer — Ask customers what they need, and record it in their own words.</a:t>
            </a:r>
          </a:p>
          <a:p>
            <a:pPr>
              <a:spcAft>
                <a:spcPts val="1000"/>
              </a:spcAft>
            </a:pPr>
            <a:r>
              <a:rPr sz="1500">
                <a:solidFill>
                  <a:srgbClr val="161B26"/>
                </a:solidFill>
                <a:latin typeface="Arial"/>
              </a:rPr>
              <a:t>•  Critical to Quality — Turn each customer need into something specific you can measure.</a:t>
            </a:r>
          </a:p>
          <a:p>
            <a:pPr>
              <a:spcAft>
                <a:spcPts val="1000"/>
              </a:spcAft>
            </a:pPr>
            <a:r>
              <a:rPr sz="1500">
                <a:solidFill>
                  <a:srgbClr val="161B26"/>
                </a:solidFill>
                <a:latin typeface="Arial"/>
              </a:rPr>
              <a:t>•  Problem statement — What is wrong, where, since when, and how big — never the solution.</a:t>
            </a:r>
          </a:p>
          <a:p>
            <a:pPr>
              <a:spcAft>
                <a:spcPts val="1000"/>
              </a:spcAft>
            </a:pPr>
            <a:r>
              <a:rPr sz="1500">
                <a:solidFill>
                  <a:srgbClr val="161B26"/>
                </a:solidFill>
                <a:latin typeface="Arial"/>
              </a:rPr>
              <a:t>•  SMART goal — Specific, Measurable, Achievable, Relevant and Time-bound.</a:t>
            </a:r>
          </a:p>
          <a:p>
            <a:pPr>
              <a:spcAft>
                <a:spcPts val="1000"/>
              </a:spcAft>
            </a:pPr>
            <a:r>
              <a:rPr sz="1500">
                <a:solidFill>
                  <a:srgbClr val="161B26"/>
                </a:solidFill>
                <a:latin typeface="Arial"/>
              </a:rPr>
              <a:t>•  Project charter — A one-page summary of the problem, goal, scope and team.</a:t>
            </a:r>
          </a:p>
          <a:p>
            <a:pPr>
              <a:spcAft>
                <a:spcPts val="1000"/>
              </a:spcAft>
            </a:pPr>
            <a:r>
              <a:rPr sz="1500">
                <a:solidFill>
                  <a:srgbClr val="161B26"/>
                </a:solidFill>
                <a:latin typeface="Arial"/>
              </a:rPr>
              <a:t>•  Scope — Agreeing what is in and out keeps a small project small.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MEASURE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 See What Is Really Happening</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Process mapping · SIPOC · Types of data · Data collection · The eight wastes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mapping</a:t>
            </a:r>
          </a:p>
          <a:p>
            <a:pPr algn="l">
              <a:spcAft>
                <a:spcPts val="300"/>
              </a:spcAft>
            </a:pPr>
            <a:r>
              <a:rPr sz="1100" b="0">
                <a:solidFill>
                  <a:srgbClr val="5B6372"/>
                </a:solidFill>
                <a:latin typeface="Arial"/>
              </a:rPr>
              <a:t>Draw the steps as they really happen, not as the manual says.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SIPOC</a:t>
            </a:r>
          </a:p>
          <a:p>
            <a:pPr algn="l">
              <a:spcAft>
                <a:spcPts val="300"/>
              </a:spcAft>
            </a:pPr>
            <a:r>
              <a:rPr sz="1100" b="0">
                <a:solidFill>
                  <a:srgbClr val="5B6372"/>
                </a:solidFill>
                <a:latin typeface="Arial"/>
              </a:rPr>
              <a:t>A one-page overview: Suppliers, Inputs, Process, Outputs, Customers.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Types of data</a:t>
            </a:r>
          </a:p>
          <a:p>
            <a:pPr algn="l">
              <a:spcAft>
                <a:spcPts val="300"/>
              </a:spcAft>
            </a:pPr>
            <a:r>
              <a:rPr sz="1100" b="0">
                <a:solidFill>
                  <a:srgbClr val="5B6372"/>
                </a:solidFill>
                <a:latin typeface="Arial"/>
              </a:rPr>
              <a:t>Discrete data you count; continuous data you measure on a scale.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Data collection</a:t>
            </a:r>
          </a:p>
          <a:p>
            <a:pPr algn="l">
              <a:spcAft>
                <a:spcPts val="300"/>
              </a:spcAft>
            </a:pPr>
            <a:r>
              <a:rPr sz="1100" b="0">
                <a:solidFill>
                  <a:srgbClr val="5B6372"/>
                </a:solidFill>
                <a:latin typeface="Arial"/>
              </a:rPr>
              <a:t>Agree what to record, who records it, and when — before you start.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Check sheets</a:t>
            </a:r>
          </a:p>
          <a:p>
            <a:pPr algn="l">
              <a:spcAft>
                <a:spcPts val="300"/>
              </a:spcAft>
            </a:pPr>
            <a:r>
              <a:rPr sz="1100" b="0">
                <a:solidFill>
                  <a:srgbClr val="5B6372"/>
                </a:solidFill>
                <a:latin typeface="Arial"/>
              </a:rPr>
              <a:t>A simple tally form is the easiest reliable way to collect data.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eight wastes</a:t>
            </a:r>
          </a:p>
          <a:p>
            <a:pPr algn="l">
              <a:spcAft>
                <a:spcPts val="300"/>
              </a:spcAft>
            </a:pPr>
            <a:r>
              <a:rPr sz="1100" b="0">
                <a:solidFill>
                  <a:srgbClr val="5B6372"/>
                </a:solidFill>
                <a:latin typeface="Arial"/>
              </a:rPr>
              <a:t>DOWNTIME — Defects, Overproduction, Waiting, Non-utilised talent, Transport, Inventory, Motion, Extra-processing.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DMAIC · M — MEASURE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Measure — How big is the problem, really?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Measure phase replaces opinion with a trustworthy baseline you can improve against.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Measure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Identify the waste in the current process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Decide what to measure and define it precisely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data collection plan and check sheet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Collect the baseline data</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Calculate yield, DPMO and sigma level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WASTE (MUDA)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Waste?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Anything beyond the minimum information, equipment, material and effort absolutely required to add value for the customer.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8 WASTES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of Lean — DOWNTIME</a:t>
            </a:r>
          </a:p>
        </p:txBody>
      </p:sp>
      <p:sp>
        <p:nvSpPr>
          <p:cNvPr id="6" name="Oval 5"/>
          <p:cNvSpPr/>
          <p:nvPr/>
        </p:nvSpPr>
        <p:spPr>
          <a:xfrm>
            <a:off x="5157216" y="2724912"/>
            <a:ext cx="1865376" cy="1865376"/>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2724912"/>
            <a:ext cx="1865376" cy="1865376"/>
          </a:xfrm>
          <a:prstGeom prst="rect">
            <a:avLst/>
          </a:prstGeom>
          <a:noFill/>
        </p:spPr>
        <p:txBody>
          <a:bodyPr wrap="square" anchor="ctr">
            <a:spAutoFit/>
          </a:bodyPr>
          <a:lstStyle/>
          <a:p>
            <a:pPr algn="ctr">
              <a:spcAft>
                <a:spcPts val="200"/>
              </a:spcAft>
            </a:pPr>
            <a:r>
              <a:rPr sz="1700" b="1">
                <a:solidFill>
                  <a:srgbClr val="DC2C2C"/>
                </a:solidFill>
                <a:latin typeface="Arial"/>
              </a:rPr>
              <a:t>DOWNTIME</a:t>
            </a:r>
          </a:p>
          <a:p>
            <a:pPr algn="ctr">
              <a:spcAft>
                <a:spcPts val="200"/>
              </a:spcAft>
            </a:pPr>
            <a:r>
              <a:rPr sz="1200" b="0">
                <a:solidFill>
                  <a:srgbClr val="5B6372"/>
                </a:solidFill>
                <a:latin typeface="Arial"/>
              </a:rPr>
              <a:t>8 wastes</a:t>
            </a:r>
          </a:p>
        </p:txBody>
      </p:sp>
      <p:sp>
        <p:nvSpPr>
          <p:cNvPr id="8" name="Oval 7"/>
          <p:cNvSpPr/>
          <p:nvPr/>
        </p:nvSpPr>
        <p:spPr>
          <a:xfrm>
            <a:off x="5477256" y="1404518"/>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77256" y="1404518"/>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D</a:t>
            </a:r>
          </a:p>
          <a:p>
            <a:pPr algn="ctr">
              <a:spcAft>
                <a:spcPts val="100"/>
              </a:spcAft>
            </a:pPr>
            <a:r>
              <a:rPr sz="800" b="0">
                <a:solidFill>
                  <a:srgbClr val="FFFFFF"/>
                </a:solidFill>
                <a:latin typeface="Arial"/>
              </a:rPr>
              <a:t>Defects</a:t>
            </a:r>
          </a:p>
        </p:txBody>
      </p:sp>
      <p:sp>
        <p:nvSpPr>
          <p:cNvPr id="10" name="Oval 9"/>
          <p:cNvSpPr/>
          <p:nvPr/>
        </p:nvSpPr>
        <p:spPr>
          <a:xfrm>
            <a:off x="7519797" y="1884990"/>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9797"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O</a:t>
            </a:r>
          </a:p>
          <a:p>
            <a:pPr algn="ctr">
              <a:spcAft>
                <a:spcPts val="100"/>
              </a:spcAft>
            </a:pPr>
            <a:r>
              <a:rPr sz="800" b="0">
                <a:solidFill>
                  <a:srgbClr val="FFFFFF"/>
                </a:solidFill>
                <a:latin typeface="Arial"/>
              </a:rPr>
              <a:t>Overproduction</a:t>
            </a:r>
          </a:p>
        </p:txBody>
      </p:sp>
      <p:sp>
        <p:nvSpPr>
          <p:cNvPr id="12" name="Oval 11"/>
          <p:cNvSpPr/>
          <p:nvPr/>
        </p:nvSpPr>
        <p:spPr>
          <a:xfrm>
            <a:off x="8365845"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5845"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W</a:t>
            </a:r>
          </a:p>
          <a:p>
            <a:pPr algn="ctr">
              <a:spcAft>
                <a:spcPts val="100"/>
              </a:spcAft>
            </a:pPr>
            <a:r>
              <a:rPr sz="800" b="0">
                <a:solidFill>
                  <a:srgbClr val="FFFFFF"/>
                </a:solidFill>
                <a:latin typeface="Arial"/>
              </a:rPr>
              <a:t>Waiting</a:t>
            </a:r>
          </a:p>
        </p:txBody>
      </p:sp>
      <p:sp>
        <p:nvSpPr>
          <p:cNvPr id="14" name="Oval 13"/>
          <p:cNvSpPr/>
          <p:nvPr/>
        </p:nvSpPr>
        <p:spPr>
          <a:xfrm>
            <a:off x="7519797" y="4204913"/>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19797"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N</a:t>
            </a:r>
          </a:p>
          <a:p>
            <a:pPr algn="ctr">
              <a:spcAft>
                <a:spcPts val="100"/>
              </a:spcAft>
            </a:pPr>
            <a:r>
              <a:rPr sz="800" b="0">
                <a:solidFill>
                  <a:srgbClr val="FFFFFF"/>
                </a:solidFill>
                <a:latin typeface="Arial"/>
              </a:rPr>
              <a:t>Non-utilised talent</a:t>
            </a:r>
          </a:p>
        </p:txBody>
      </p:sp>
      <p:sp>
        <p:nvSpPr>
          <p:cNvPr id="16" name="Oval 15"/>
          <p:cNvSpPr/>
          <p:nvPr/>
        </p:nvSpPr>
        <p:spPr>
          <a:xfrm>
            <a:off x="5477256" y="4685385"/>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77256" y="4685385"/>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T</a:t>
            </a:r>
          </a:p>
          <a:p>
            <a:pPr algn="ctr">
              <a:spcAft>
                <a:spcPts val="100"/>
              </a:spcAft>
            </a:pPr>
            <a:r>
              <a:rPr sz="800" b="0">
                <a:solidFill>
                  <a:srgbClr val="FFFFFF"/>
                </a:solidFill>
                <a:latin typeface="Arial"/>
              </a:rPr>
              <a:t>Transport</a:t>
            </a:r>
          </a:p>
        </p:txBody>
      </p:sp>
      <p:sp>
        <p:nvSpPr>
          <p:cNvPr id="18" name="Oval 17"/>
          <p:cNvSpPr/>
          <p:nvPr/>
        </p:nvSpPr>
        <p:spPr>
          <a:xfrm>
            <a:off x="3434714" y="4204913"/>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34714"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I</a:t>
            </a:r>
          </a:p>
          <a:p>
            <a:pPr algn="ctr">
              <a:spcAft>
                <a:spcPts val="100"/>
              </a:spcAft>
            </a:pPr>
            <a:r>
              <a:rPr sz="800" b="0">
                <a:solidFill>
                  <a:srgbClr val="FFFFFF"/>
                </a:solidFill>
                <a:latin typeface="Arial"/>
              </a:rPr>
              <a:t>Inventory</a:t>
            </a:r>
          </a:p>
        </p:txBody>
      </p:sp>
      <p:sp>
        <p:nvSpPr>
          <p:cNvPr id="20" name="Oval 19"/>
          <p:cNvSpPr/>
          <p:nvPr/>
        </p:nvSpPr>
        <p:spPr>
          <a:xfrm>
            <a:off x="2588666"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588666"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M</a:t>
            </a:r>
          </a:p>
          <a:p>
            <a:pPr algn="ctr">
              <a:spcAft>
                <a:spcPts val="100"/>
              </a:spcAft>
            </a:pPr>
            <a:r>
              <a:rPr sz="800" b="0">
                <a:solidFill>
                  <a:srgbClr val="FFFFFF"/>
                </a:solidFill>
                <a:latin typeface="Arial"/>
              </a:rPr>
              <a:t>Motion</a:t>
            </a:r>
          </a:p>
        </p:txBody>
      </p:sp>
      <p:sp>
        <p:nvSpPr>
          <p:cNvPr id="22" name="Oval 21"/>
          <p:cNvSpPr/>
          <p:nvPr/>
        </p:nvSpPr>
        <p:spPr>
          <a:xfrm>
            <a:off x="3434714" y="1884990"/>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34714"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E</a:t>
            </a:r>
          </a:p>
          <a:p>
            <a:pPr algn="ctr">
              <a:spcAft>
                <a:spcPts val="100"/>
              </a:spcAft>
            </a:pPr>
            <a:r>
              <a:rPr sz="800" b="0">
                <a:solidFill>
                  <a:srgbClr val="FFFFFF"/>
                </a:solidFill>
                <a:latin typeface="Arial"/>
              </a:rPr>
              <a:t>Extra-processing</a:t>
            </a:r>
          </a:p>
        </p:txBody>
      </p:sp>
      <p:sp>
        <p:nvSpPr>
          <p:cNvPr id="24" name="TextBox 23"/>
          <p:cNvSpPr txBox="1"/>
          <p:nvPr/>
        </p:nvSpPr>
        <p:spPr>
          <a:xfrm>
            <a:off x="777240" y="585216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Waste is any effort the customer would not willingly pay for.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DOWNTIME IN PRACTICE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in a Service Process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D — Defects</a:t>
            </a:r>
          </a:p>
          <a:p>
            <a:pPr algn="l">
              <a:spcAft>
                <a:spcPts val="300"/>
              </a:spcAft>
            </a:pPr>
            <a:r>
              <a:rPr sz="1000" b="0">
                <a:solidFill>
                  <a:srgbClr val="5B6372"/>
                </a:solidFill>
                <a:latin typeface="Arial"/>
              </a:rPr>
              <a:t>A drink made wrong and remade; the wrong order handed over.</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 — Overproduction</a:t>
            </a:r>
          </a:p>
          <a:p>
            <a:pPr algn="l">
              <a:spcAft>
                <a:spcPts val="300"/>
              </a:spcAft>
            </a:pPr>
            <a:r>
              <a:rPr sz="1000" b="0">
                <a:solidFill>
                  <a:srgbClr val="5B6372"/>
                </a:solidFill>
                <a:latin typeface="Arial"/>
              </a:rPr>
              <a:t>Brewing more coffee at 8am than customers actually order, then pouring it away.</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 — Waiting</a:t>
            </a:r>
          </a:p>
          <a:p>
            <a:pPr algn="l">
              <a:spcAft>
                <a:spcPts val="300"/>
              </a:spcAft>
            </a:pPr>
            <a:r>
              <a:rPr sz="1000" b="0">
                <a:solidFill>
                  <a:srgbClr val="5B6372"/>
                </a:solidFill>
                <a:latin typeface="Arial"/>
              </a:rPr>
              <a:t>Customers standing in the queue; a drink waiting on the counter to be called out.</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N — Non-utilised talent</a:t>
            </a:r>
          </a:p>
          <a:p>
            <a:pPr algn="l">
              <a:spcAft>
                <a:spcPts val="300"/>
              </a:spcAft>
            </a:pPr>
            <a:r>
              <a:rPr sz="1000" b="0">
                <a:solidFill>
                  <a:srgbClr val="5B6372"/>
                </a:solidFill>
                <a:latin typeface="Arial"/>
              </a:rPr>
              <a:t>An experienced barista tied to the till instead of making drinks at peak.</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T — Transport</a:t>
            </a:r>
          </a:p>
          <a:p>
            <a:pPr algn="l">
              <a:spcAft>
                <a:spcPts val="300"/>
              </a:spcAft>
            </a:pPr>
            <a:r>
              <a:rPr sz="1000" b="0">
                <a:solidFill>
                  <a:srgbClr val="5B6372"/>
                </a:solidFill>
                <a:latin typeface="Arial"/>
              </a:rPr>
              <a:t>Carrying milk from the back store to the counter several times each morning.</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I — Inventory</a:t>
            </a:r>
          </a:p>
          <a:p>
            <a:pPr algn="l">
              <a:spcAft>
                <a:spcPts val="300"/>
              </a:spcAft>
            </a:pPr>
            <a:r>
              <a:rPr sz="1000" b="0">
                <a:solidFill>
                  <a:srgbClr val="5B6372"/>
                </a:solidFill>
                <a:latin typeface="Arial"/>
              </a:rPr>
              <a:t>A growing line of unmade orders on the rail during the rush.</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 — Motion</a:t>
            </a:r>
          </a:p>
          <a:p>
            <a:pPr algn="l">
              <a:spcAft>
                <a:spcPts val="300"/>
              </a:spcAft>
            </a:pPr>
            <a:r>
              <a:rPr sz="1000" b="0">
                <a:solidFill>
                  <a:srgbClr val="5B6372"/>
                </a:solidFill>
                <a:latin typeface="Arial"/>
              </a:rPr>
              <a:t>The barista walking back and forth because cups and lids are stored apart.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E — Extra-processing</a:t>
            </a:r>
          </a:p>
          <a:p>
            <a:pPr algn="l">
              <a:spcAft>
                <a:spcPts val="300"/>
              </a:spcAft>
            </a:pPr>
            <a:r>
              <a:rPr sz="1000" b="0">
                <a:solidFill>
                  <a:srgbClr val="5B6372"/>
                </a:solidFill>
                <a:latin typeface="Arial"/>
              </a:rPr>
              <a:t>Writing the order on a cup and then re-keying it into the till.</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VALUE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Value-Added vs Non-Value-Added</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Value-added (VA)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customer would pay for 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Changes the product or service.</a:t>
            </a:r>
          </a:p>
          <a:p>
            <a:pPr>
              <a:spcAft>
                <a:spcPts val="700"/>
              </a:spcAft>
            </a:pPr>
            <a:r>
              <a:rPr sz="1200">
                <a:solidFill>
                  <a:srgbClr val="161B26"/>
                </a:solidFill>
                <a:latin typeface="Arial"/>
              </a:rPr>
              <a:t>•  Done right the first time.</a:t>
            </a:r>
          </a:p>
          <a:p>
            <a:pPr>
              <a:spcAft>
                <a:spcPts val="700"/>
              </a:spcAft>
            </a:pPr>
            <a:r>
              <a:rPr sz="1200">
                <a:solidFill>
                  <a:srgbClr val="161B26"/>
                </a:solidFill>
                <a:latin typeface="Arial"/>
              </a:rPr>
              <a:t>•  The customer cares that it happened.</a:t>
            </a:r>
          </a:p>
          <a:p>
            <a:pPr>
              <a:spcAft>
                <a:spcPts val="700"/>
              </a:spcAft>
            </a:pPr>
            <a:r>
              <a:rPr sz="1200">
                <a:solidFill>
                  <a:srgbClr val="161B26"/>
                </a:solidFill>
                <a:latin typeface="Arial"/>
              </a:rPr>
              <a:t>•  Example: actually making the coffee.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Business-value-added (BVA)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but not by the customer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Needed for legal or regulatory reasons.</a:t>
            </a:r>
          </a:p>
          <a:p>
            <a:pPr>
              <a:spcAft>
                <a:spcPts val="700"/>
              </a:spcAft>
            </a:pPr>
            <a:r>
              <a:rPr sz="1200">
                <a:solidFill>
                  <a:srgbClr val="161B26"/>
                </a:solidFill>
                <a:latin typeface="Arial"/>
              </a:rPr>
              <a:t>•  Required to run the business.</a:t>
            </a:r>
          </a:p>
          <a:p>
            <a:pPr>
              <a:spcAft>
                <a:spcPts val="700"/>
              </a:spcAft>
            </a:pPr>
            <a:r>
              <a:rPr sz="1200">
                <a:solidFill>
                  <a:srgbClr val="161B26"/>
                </a:solidFill>
                <a:latin typeface="Arial"/>
              </a:rPr>
              <a:t>•  Minimise it — you cannot remove it.</a:t>
            </a:r>
          </a:p>
          <a:p>
            <a:pPr>
              <a:spcAft>
                <a:spcPts val="700"/>
              </a:spcAft>
            </a:pPr>
            <a:r>
              <a:rPr sz="1200">
                <a:solidFill>
                  <a:srgbClr val="161B26"/>
                </a:solidFill>
                <a:latin typeface="Arial"/>
              </a:rPr>
              <a:t>•  Example: recording the sale for tax purposes.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Non-value-added (NVA)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waste — remove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Consumes time and resource for nothing.</a:t>
            </a:r>
          </a:p>
          <a:p>
            <a:pPr>
              <a:spcAft>
                <a:spcPts val="700"/>
              </a:spcAft>
            </a:pPr>
            <a:r>
              <a:rPr sz="1200">
                <a:solidFill>
                  <a:srgbClr val="161B26"/>
                </a:solidFill>
                <a:latin typeface="Arial"/>
              </a:rPr>
              <a:t>•  The customer would never pay for it.</a:t>
            </a:r>
          </a:p>
          <a:p>
            <a:pPr>
              <a:spcAft>
                <a:spcPts val="700"/>
              </a:spcAft>
            </a:pPr>
            <a:r>
              <a:rPr sz="1200">
                <a:solidFill>
                  <a:srgbClr val="161B26"/>
                </a:solidFill>
                <a:latin typeface="Arial"/>
              </a:rPr>
              <a:t>•  Attack this first.</a:t>
            </a:r>
          </a:p>
          <a:p>
            <a:pPr>
              <a:spcAft>
                <a:spcPts val="700"/>
              </a:spcAft>
            </a:pPr>
            <a:r>
              <a:rPr sz="1200">
                <a:solidFill>
                  <a:srgbClr val="161B26"/>
                </a:solidFill>
                <a:latin typeface="Arial"/>
              </a:rPr>
              <a:t>•  Example: a customer waiting in the queue.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DATA TYPES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Types of Data — and Why It Matters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Continuous data</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Measured on a scale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Any value within a range.</a:t>
            </a:r>
          </a:p>
          <a:p>
            <a:pPr>
              <a:spcAft>
                <a:spcPts val="700"/>
              </a:spcAft>
            </a:pPr>
            <a:r>
              <a:rPr sz="1200">
                <a:solidFill>
                  <a:srgbClr val="161B26"/>
                </a:solidFill>
                <a:latin typeface="Arial"/>
              </a:rPr>
              <a:t>•  Time, cost, temperature, length.</a:t>
            </a:r>
          </a:p>
          <a:p>
            <a:pPr>
              <a:spcAft>
                <a:spcPts val="700"/>
              </a:spcAft>
            </a:pPr>
            <a:r>
              <a:rPr sz="1200">
                <a:solidFill>
                  <a:srgbClr val="161B26"/>
                </a:solidFill>
                <a:latin typeface="Arial"/>
              </a:rPr>
              <a:t>•  More information per data point.</a:t>
            </a:r>
          </a:p>
          <a:p>
            <a:pPr>
              <a:spcAft>
                <a:spcPts val="700"/>
              </a:spcAft>
            </a:pPr>
            <a:r>
              <a:rPr sz="1200">
                <a:solidFill>
                  <a:srgbClr val="161B26"/>
                </a:solidFill>
                <a:latin typeface="Arial"/>
              </a:rPr>
              <a:t>•  Needs a smaller sample size.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Discrete / attribute data</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Counted in whole units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Counts and categories only.</a:t>
            </a:r>
          </a:p>
          <a:p>
            <a:pPr>
              <a:spcAft>
                <a:spcPts val="700"/>
              </a:spcAft>
            </a:pPr>
            <a:r>
              <a:rPr sz="1200">
                <a:solidFill>
                  <a:srgbClr val="161B26"/>
                </a:solidFill>
                <a:latin typeface="Arial"/>
              </a:rPr>
              <a:t>•  Number of defects, pass/fail.</a:t>
            </a:r>
          </a:p>
          <a:p>
            <a:pPr>
              <a:spcAft>
                <a:spcPts val="700"/>
              </a:spcAft>
            </a:pPr>
            <a:r>
              <a:rPr sz="1200">
                <a:solidFill>
                  <a:srgbClr val="161B26"/>
                </a:solidFill>
                <a:latin typeface="Arial"/>
              </a:rPr>
              <a:t>•  Less information per data point.</a:t>
            </a:r>
          </a:p>
          <a:p>
            <a:pPr>
              <a:spcAft>
                <a:spcPts val="700"/>
              </a:spcAft>
            </a:pPr>
            <a:r>
              <a:rPr sz="1200">
                <a:solidFill>
                  <a:srgbClr val="161B26"/>
                </a:solidFill>
                <a:latin typeface="Arial"/>
              </a:rPr>
              <a:t>•  Needs a much larger sample.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PLANNING THE DATA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Data Collection Plan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a:t>
            </a:r>
          </a:p>
          <a:p>
            <a:pPr algn="l">
              <a:spcAft>
                <a:spcPts val="300"/>
              </a:spcAft>
            </a:pPr>
            <a:r>
              <a:rPr sz="1100" b="0">
                <a:solidFill>
                  <a:srgbClr val="5B6372"/>
                </a:solidFill>
                <a:latin typeface="Arial"/>
              </a:rPr>
              <a:t>Which metric, and what exactly counts as one observation.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a:t>
            </a:r>
          </a:p>
          <a:p>
            <a:pPr algn="l">
              <a:spcAft>
                <a:spcPts val="300"/>
              </a:spcAft>
            </a:pPr>
            <a:r>
              <a:rPr sz="1100" b="0">
                <a:solidFill>
                  <a:srgbClr val="5B6372"/>
                </a:solidFill>
                <a:latin typeface="Arial"/>
              </a:rPr>
              <a:t>Which CTQ or problem statement this metric supports.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a:t>
            </a:r>
          </a:p>
          <a:p>
            <a:pPr algn="l">
              <a:spcAft>
                <a:spcPts val="300"/>
              </a:spcAft>
            </a:pPr>
            <a:r>
              <a:rPr sz="1100" b="0">
                <a:solidFill>
                  <a:srgbClr val="5B6372"/>
                </a:solidFill>
                <a:latin typeface="Arial"/>
              </a:rPr>
              <a:t>Automated report preferred; manual capture only when unavoidable.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a:t>
            </a:r>
          </a:p>
          <a:p>
            <a:pPr algn="l">
              <a:spcAft>
                <a:spcPts val="300"/>
              </a:spcAft>
            </a:pPr>
            <a:r>
              <a:rPr sz="1100" b="0">
                <a:solidFill>
                  <a:srgbClr val="5B6372"/>
                </a:solidFill>
                <a:latin typeface="Arial"/>
              </a:rPr>
              <a:t>Someone who knows the process and is available to do it consistently.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When</a:t>
            </a:r>
          </a:p>
          <a:p>
            <a:pPr algn="l">
              <a:spcAft>
                <a:spcPts val="300"/>
              </a:spcAft>
            </a:pPr>
            <a:r>
              <a:rPr sz="1100" b="0">
                <a:solidFill>
                  <a:srgbClr val="5B6372"/>
                </a:solidFill>
                <a:latin typeface="Arial"/>
              </a:rPr>
              <a:t>The frequency and the exact period the data covers.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 many</a:t>
            </a:r>
          </a:p>
          <a:p>
            <a:pPr algn="l">
              <a:spcAft>
                <a:spcPts val="300"/>
              </a:spcAft>
            </a:pPr>
            <a:r>
              <a:rPr sz="1100" b="0">
                <a:solidFill>
                  <a:srgbClr val="5B6372"/>
                </a:solidFill>
                <a:latin typeface="Arial"/>
              </a:rPr>
              <a:t>The sample size — enough to be representative, not so many it is unaffordable.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Check Sheets — the Simplest Reliable Tool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One row per observation</a:t>
            </a:r>
          </a:p>
          <a:p>
            <a:pPr algn="l">
              <a:spcAft>
                <a:spcPts val="300"/>
              </a:spcAft>
            </a:pPr>
            <a:r>
              <a:rPr sz="1200" b="0">
                <a:solidFill>
                  <a:srgbClr val="5B6372"/>
                </a:solidFill>
                <a:latin typeface="Arial"/>
              </a:rPr>
              <a:t>Never summarise as you collect — record the raw event.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Pre-printed categories</a:t>
            </a:r>
          </a:p>
          <a:p>
            <a:pPr algn="l">
              <a:spcAft>
                <a:spcPts val="300"/>
              </a:spcAft>
            </a:pPr>
            <a:r>
              <a:rPr sz="1200" b="0">
                <a:solidFill>
                  <a:srgbClr val="5B6372"/>
                </a:solidFill>
                <a:latin typeface="Arial"/>
              </a:rPr>
              <a:t>Tick a box rather than writing free text; free text cannot be counted.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Mutually exclusive</a:t>
            </a:r>
          </a:p>
          <a:p>
            <a:pPr algn="l">
              <a:spcAft>
                <a:spcPts val="300"/>
              </a:spcAft>
            </a:pPr>
            <a:r>
              <a:rPr sz="1200" b="0">
                <a:solidFill>
                  <a:srgbClr val="5B6372"/>
                </a:solidFill>
                <a:latin typeface="Arial"/>
              </a:rPr>
              <a:t>Every observation must fall into exactly one category.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context</a:t>
            </a:r>
          </a:p>
          <a:p>
            <a:pPr algn="l">
              <a:spcAft>
                <a:spcPts val="300"/>
              </a:spcAft>
            </a:pPr>
            <a:r>
              <a:rPr sz="1200" b="0">
                <a:solidFill>
                  <a:srgbClr val="5B6372"/>
                </a:solidFill>
                <a:latin typeface="Arial"/>
              </a:rPr>
              <a:t>Date, time, shift and who recorded it — you will need this later.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Measure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Activity 2 — Measure — Map the Process and Spot the Waste</a:t>
            </a:r>
          </a:p>
          <a:p>
            <a:pPr algn="l">
              <a:spcAft>
                <a:spcPts val="300"/>
              </a:spcAft>
            </a:pPr>
            <a:r>
              <a:rPr sz="1100" b="0">
                <a:solidFill>
                  <a:srgbClr val="5B6372"/>
                </a:solidFill>
                <a:latin typeface="Arial"/>
              </a:rPr>
              <a:t>A SIPOC overview, a step-by-step process map with timings, and a compl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You cannot improve what you cannot see. Walk the BrewBean Cafe morning rush from the customer joining the queue to the drink being handed over, draw it as it really happens, and tally where time and effort are being lost. This is the phase that turns opinions about the problem into facts about the problem.</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SIPOC overview, a step-by-step process map with timings, and a completed waste tally sheet.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process mapping, types of data, check sheets, the eight wastes (DOWNTIME)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2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Activity 2</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Morning rush observation log</a:t>
            </a:r>
          </a:p>
          <a:p>
            <a:pPr algn="l">
              <a:spcAft>
                <a:spcPts val="300"/>
              </a:spcAft>
            </a:pPr>
            <a:r>
              <a:rPr sz="1000" b="0">
                <a:solidFill>
                  <a:srgbClr val="5B6372"/>
                </a:solidFill>
                <a:latin typeface="Arial"/>
              </a:rPr>
              <a:t>60 rows — morning-rush-observation-log.csv</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Process step timings</a:t>
            </a:r>
          </a:p>
          <a:p>
            <a:pPr algn="l">
              <a:spcAft>
                <a:spcPts val="300"/>
              </a:spcAft>
            </a:pPr>
            <a:r>
              <a:rPr sz="1000" b="0">
                <a:solidFill>
                  <a:srgbClr val="5B6372"/>
                </a:solidFill>
                <a:latin typeface="Arial"/>
              </a:rPr>
              <a:t>15 rows — process-step-timings.csv</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DOWNTIME waste tally (partially completed)</a:t>
            </a:r>
          </a:p>
          <a:p>
            <a:pPr algn="l">
              <a:spcAft>
                <a:spcPts val="300"/>
              </a:spcAft>
            </a:pPr>
            <a:r>
              <a:rPr sz="1000" b="0">
                <a:solidFill>
                  <a:srgbClr val="5B6372"/>
                </a:solidFill>
                <a:latin typeface="Arial"/>
              </a:rPr>
              <a:t>8 rows — downtime-waste-tally.csv</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A02-Data-Workbook.xlsx</a:t>
            </a:r>
          </a:p>
          <a:p>
            <a:pPr algn="l">
              <a:spcAft>
                <a:spcPts val="300"/>
              </a:spcAft>
            </a:pPr>
            <a:r>
              <a:rPr sz="1000" b="0">
                <a:solidFill>
                  <a:srgbClr val="5B6372"/>
                </a:solidFill>
                <a:latin typeface="Arial"/>
              </a:rPr>
              <a:t>Every dataset and template, one per tab</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MEASURE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Agree the start and stop points of the process — start: customer joins the queue; stop: customer receives the drink.</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templates/sipoc-template.csv: Suppliers, Inputs, Process (5-7 steps only), Outputs, Customers.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MEASURE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data/process-step-timings.csv. Copy the 15 steps into templates/process-map-template.csv with their observed times.</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Mark each step VA or NVA in the template — the test is whether the customer would pay extra for THAT step — and write one line saying why.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MEASURE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Look at the columns in data/morning-rush-observation-log.csv and classify each: which figures are discrete (counted) and which are continuous (measured)?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data/downtime-waste-tally.csv — three rows are completed as worked examples. Using the observation log and the step timings as your evidence, complete the remaining five rows in templates/downtime-tally-template.csv.</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MEASURE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Identify which single waste type you tallied most often and at which process step, then write down the baseline figures (average wait, longest wait, % over the 5-minute promise, drinks remade) — Activity 5 measures the improvement against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SIPOC has all five columns filled, every process step has a time, and every waste on your tally sheet is tagged to one of the eight DOWNTIME types.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Measure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Process mapping — Draw the steps as they really happen, not as the manual says.</a:t>
            </a:r>
          </a:p>
          <a:p>
            <a:pPr>
              <a:spcAft>
                <a:spcPts val="1000"/>
              </a:spcAft>
            </a:pPr>
            <a:r>
              <a:rPr sz="1500">
                <a:solidFill>
                  <a:srgbClr val="161B26"/>
                </a:solidFill>
                <a:latin typeface="Arial"/>
              </a:rPr>
              <a:t>•  SIPOC — A one-page overview: Suppliers, Inputs, Process, Outputs, Customers.</a:t>
            </a:r>
          </a:p>
          <a:p>
            <a:pPr>
              <a:spcAft>
                <a:spcPts val="1000"/>
              </a:spcAft>
            </a:pPr>
            <a:r>
              <a:rPr sz="1500">
                <a:solidFill>
                  <a:srgbClr val="161B26"/>
                </a:solidFill>
                <a:latin typeface="Arial"/>
              </a:rPr>
              <a:t>•  Types of data — Discrete data you count; continuous data you measure on a scale.</a:t>
            </a:r>
          </a:p>
          <a:p>
            <a:pPr>
              <a:spcAft>
                <a:spcPts val="1000"/>
              </a:spcAft>
            </a:pPr>
            <a:r>
              <a:rPr sz="1500">
                <a:solidFill>
                  <a:srgbClr val="161B26"/>
                </a:solidFill>
                <a:latin typeface="Arial"/>
              </a:rPr>
              <a:t>•  Data collection — Agree what to record, who records it, and when — before you start.</a:t>
            </a:r>
          </a:p>
          <a:p>
            <a:pPr>
              <a:spcAft>
                <a:spcPts val="1000"/>
              </a:spcAft>
            </a:pPr>
            <a:r>
              <a:rPr sz="1500">
                <a:solidFill>
                  <a:srgbClr val="161B26"/>
                </a:solidFill>
                <a:latin typeface="Arial"/>
              </a:rPr>
              <a:t>•  Check sheets — A simple tally form is the easiest reliable way to collect data.</a:t>
            </a:r>
          </a:p>
          <a:p>
            <a:pPr>
              <a:spcAft>
                <a:spcPts val="1000"/>
              </a:spcAft>
            </a:pPr>
            <a:r>
              <a:rPr sz="1500">
                <a:solidFill>
                  <a:srgbClr val="161B26"/>
                </a:solidFill>
                <a:latin typeface="Arial"/>
              </a:rPr>
              <a:t>•  The eight wastes — DOWNTIME — Defects, Overproduction, Waiting, Non-utilised talent, Transport, Inventory, Motion, Extra-processing.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ANALYZE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 Find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Root cause · 5 Whys · Fishbone diagram · Pareto chart · Variation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Symptom vs cause</a:t>
            </a:r>
          </a:p>
          <a:p>
            <a:pPr algn="l">
              <a:spcAft>
                <a:spcPts val="300"/>
              </a:spcAft>
            </a:pPr>
            <a:r>
              <a:rPr sz="1100" b="0">
                <a:solidFill>
                  <a:srgbClr val="5B6372"/>
                </a:solidFill>
                <a:latin typeface="Arial"/>
              </a:rPr>
              <a:t>Treating the symptom makes the problem come back; treating the cause does not.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Root cause</a:t>
            </a:r>
          </a:p>
          <a:p>
            <a:pPr algn="l">
              <a:spcAft>
                <a:spcPts val="300"/>
              </a:spcAft>
            </a:pPr>
            <a:r>
              <a:rPr sz="1100" b="0">
                <a:solidFill>
                  <a:srgbClr val="5B6372"/>
                </a:solidFill>
                <a:latin typeface="Arial"/>
              </a:rPr>
              <a:t>The cause that, once removed, stops the problem recurring.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 Whys</a:t>
            </a:r>
          </a:p>
          <a:p>
            <a:pPr algn="l">
              <a:spcAft>
                <a:spcPts val="300"/>
              </a:spcAft>
            </a:pPr>
            <a:r>
              <a:rPr sz="1100" b="0">
                <a:solidFill>
                  <a:srgbClr val="5B6372"/>
                </a:solidFill>
                <a:latin typeface="Arial"/>
              </a:rPr>
              <a:t>Keep asking 'why?' until you reach something you can actually act 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Fishbone diagram</a:t>
            </a:r>
          </a:p>
          <a:p>
            <a:pPr algn="l">
              <a:spcAft>
                <a:spcPts val="300"/>
              </a:spcAft>
            </a:pPr>
            <a:r>
              <a:rPr sz="1100" b="0">
                <a:solidFill>
                  <a:srgbClr val="5B6372"/>
                </a:solidFill>
                <a:latin typeface="Arial"/>
              </a:rPr>
              <a:t>Sort possible causes into Manpower, Method, Machine, Material and Measurement.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Pareto chart</a:t>
            </a:r>
          </a:p>
          <a:p>
            <a:pPr algn="l">
              <a:spcAft>
                <a:spcPts val="300"/>
              </a:spcAft>
            </a:pPr>
            <a:r>
              <a:rPr sz="1100" b="0">
                <a:solidFill>
                  <a:srgbClr val="5B6372"/>
                </a:solidFill>
                <a:latin typeface="Arial"/>
              </a:rPr>
              <a:t>Roughly 80% of the problem usually comes from 20% of the causes.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Variation</a:t>
            </a:r>
          </a:p>
          <a:p>
            <a:pPr algn="l">
              <a:spcAft>
                <a:spcPts val="300"/>
              </a:spcAft>
            </a:pPr>
            <a:r>
              <a:rPr sz="1100" b="0">
                <a:solidFill>
                  <a:srgbClr val="5B6372"/>
                </a:solidFill>
                <a:latin typeface="Arial"/>
              </a:rPr>
              <a:t>Some variation is normal in the process; some has a specific assignable cause.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DMAIC · A — ANALYZE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 Why is this happening?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Analyze phase moves the team from a measured symptom to a proven, actionable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Analyze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Study the data and the process map</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Generate a list of potential causes (Xs)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Organise the causes with a Fishbone diagram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Drill down with the 5 Whys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Test each candidate cause against the evidence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UNDERSTANDING VARIATION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Kinds of Variation — and Two Different Responses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Common cause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Built into the process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Always present, random, predictable range.</a:t>
            </a:r>
          </a:p>
          <a:p>
            <a:pPr>
              <a:spcAft>
                <a:spcPts val="700"/>
              </a:spcAft>
            </a:pPr>
            <a:r>
              <a:rPr sz="1200">
                <a:solidFill>
                  <a:srgbClr val="161B26"/>
                </a:solidFill>
                <a:latin typeface="Arial"/>
              </a:rPr>
              <a:t>•  The process is stable but imperfect.</a:t>
            </a:r>
          </a:p>
          <a:p>
            <a:pPr>
              <a:spcAft>
                <a:spcPts val="700"/>
              </a:spcAft>
            </a:pPr>
            <a:r>
              <a:rPr sz="1200">
                <a:solidFill>
                  <a:srgbClr val="161B26"/>
                </a:solidFill>
                <a:latin typeface="Arial"/>
              </a:rPr>
              <a:t>•  Response: change the PROCESS.</a:t>
            </a:r>
          </a:p>
          <a:p>
            <a:pPr>
              <a:spcAft>
                <a:spcPts val="700"/>
              </a:spcAft>
            </a:pPr>
            <a:r>
              <a:rPr sz="1200">
                <a:solidFill>
                  <a:srgbClr val="161B26"/>
                </a:solidFill>
                <a:latin typeface="Arial"/>
              </a:rPr>
              <a:t>•  Reacting to individual points makes it worse.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Special cause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An external, assignable signal</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Unusual, traceable to a specific event.</a:t>
            </a:r>
          </a:p>
          <a:p>
            <a:pPr>
              <a:spcAft>
                <a:spcPts val="700"/>
              </a:spcAft>
            </a:pPr>
            <a:r>
              <a:rPr sz="1200">
                <a:solidFill>
                  <a:srgbClr val="161B26"/>
                </a:solidFill>
                <a:latin typeface="Arial"/>
              </a:rPr>
              <a:t>•  Something changed that should not have.</a:t>
            </a:r>
          </a:p>
          <a:p>
            <a:pPr>
              <a:spcAft>
                <a:spcPts val="700"/>
              </a:spcAft>
            </a:pPr>
            <a:r>
              <a:rPr sz="1200">
                <a:solidFill>
                  <a:srgbClr val="161B26"/>
                </a:solidFill>
                <a:latin typeface="Arial"/>
              </a:rPr>
              <a:t>•  Response: investigate THAT event.</a:t>
            </a:r>
          </a:p>
          <a:p>
            <a:pPr>
              <a:spcAft>
                <a:spcPts val="700"/>
              </a:spcAft>
            </a:pPr>
            <a:r>
              <a:rPr sz="1200">
                <a:solidFill>
                  <a:srgbClr val="161B26"/>
                </a:solidFill>
                <a:latin typeface="Arial"/>
              </a:rPr>
              <a:t>•  Fix the cause, then remove it for good.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PARETO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Pareto Principle — the 80/20 rule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Roughly 80% of the effects come from 20% of the causes. Find that 20% and you get most of the improvement for a fraction of the effort.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Chart — Causes of Delay at the BrewBean Cafe</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36192" y="2432304"/>
            <a:ext cx="905256"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210</a:t>
            </a:r>
          </a:p>
        </p:txBody>
      </p:sp>
      <p:sp>
        <p:nvSpPr>
          <p:cNvPr id="10" name="TextBox 9"/>
          <p:cNvSpPr txBox="1"/>
          <p:nvPr/>
        </p:nvSpPr>
        <p:spPr>
          <a:xfrm>
            <a:off x="11430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One till at</a:t>
            </a:r>
          </a:p>
          <a:p>
            <a:pPr algn="ctr">
              <a:spcAft>
                <a:spcPts val="400"/>
              </a:spcAft>
            </a:pPr>
            <a:r>
              <a:rPr sz="1000" b="0">
                <a:solidFill>
                  <a:srgbClr val="5B6372"/>
                </a:solidFill>
                <a:latin typeface="Arial"/>
              </a:rPr>
              <a:t>peak hour</a:t>
            </a:r>
          </a:p>
        </p:txBody>
      </p:sp>
      <p:sp>
        <p:nvSpPr>
          <p:cNvPr id="11" name="Rectangle 10"/>
          <p:cNvSpPr/>
          <p:nvPr/>
        </p:nvSpPr>
        <p:spPr>
          <a:xfrm>
            <a:off x="3044952" y="3100470"/>
            <a:ext cx="905256" cy="18830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2807862"/>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155</a:t>
            </a:r>
          </a:p>
        </p:txBody>
      </p:sp>
      <p:sp>
        <p:nvSpPr>
          <p:cNvPr id="13" name="TextBox 12"/>
          <p:cNvSpPr txBox="1"/>
          <p:nvPr/>
        </p:nvSpPr>
        <p:spPr>
          <a:xfrm>
            <a:off x="265176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Milk fetched</a:t>
            </a:r>
          </a:p>
          <a:p>
            <a:pPr algn="ctr">
              <a:spcAft>
                <a:spcPts val="400"/>
              </a:spcAft>
            </a:pPr>
            <a:r>
              <a:rPr sz="1000" b="0">
                <a:solidFill>
                  <a:srgbClr val="5B6372"/>
                </a:solidFill>
                <a:latin typeface="Arial"/>
              </a:rPr>
              <a:t>from back store</a:t>
            </a:r>
          </a:p>
        </p:txBody>
      </p:sp>
      <p:sp>
        <p:nvSpPr>
          <p:cNvPr id="14" name="Rectangle 13"/>
          <p:cNvSpPr/>
          <p:nvPr/>
        </p:nvSpPr>
        <p:spPr>
          <a:xfrm>
            <a:off x="4553712" y="3829377"/>
            <a:ext cx="905256" cy="115410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51960" y="353676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95</a:t>
            </a:r>
          </a:p>
        </p:txBody>
      </p:sp>
      <p:sp>
        <p:nvSpPr>
          <p:cNvPr id="16" name="TextBox 15"/>
          <p:cNvSpPr txBox="1"/>
          <p:nvPr/>
        </p:nvSpPr>
        <p:spPr>
          <a:xfrm>
            <a:off x="416052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Order re-keyed</a:t>
            </a:r>
          </a:p>
          <a:p>
            <a:pPr algn="ctr">
              <a:spcAft>
                <a:spcPts val="400"/>
              </a:spcAft>
            </a:pPr>
            <a:r>
              <a:rPr sz="1000" b="0">
                <a:solidFill>
                  <a:srgbClr val="5B6372"/>
                </a:solidFill>
                <a:latin typeface="Arial"/>
              </a:rPr>
              <a:t>into till</a:t>
            </a:r>
          </a:p>
        </p:txBody>
      </p:sp>
      <p:sp>
        <p:nvSpPr>
          <p:cNvPr id="17" name="Rectangle 16"/>
          <p:cNvSpPr/>
          <p:nvPr/>
        </p:nvSpPr>
        <p:spPr>
          <a:xfrm>
            <a:off x="6062472" y="4400355"/>
            <a:ext cx="905256" cy="58312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0" y="4107747"/>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48</a:t>
            </a:r>
          </a:p>
        </p:txBody>
      </p:sp>
      <p:sp>
        <p:nvSpPr>
          <p:cNvPr id="19" name="TextBox 18"/>
          <p:cNvSpPr txBox="1"/>
          <p:nvPr/>
        </p:nvSpPr>
        <p:spPr>
          <a:xfrm>
            <a:off x="566928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Card machine</a:t>
            </a:r>
          </a:p>
          <a:p>
            <a:pPr algn="ctr">
              <a:spcAft>
                <a:spcPts val="400"/>
              </a:spcAft>
            </a:pPr>
            <a:r>
              <a:rPr sz="1000" b="0">
                <a:solidFill>
                  <a:srgbClr val="5B6372"/>
                </a:solidFill>
                <a:latin typeface="Arial"/>
              </a:rPr>
              <a:t>slow</a:t>
            </a:r>
          </a:p>
        </p:txBody>
      </p:sp>
      <p:sp>
        <p:nvSpPr>
          <p:cNvPr id="20" name="Rectangle 19"/>
          <p:cNvSpPr/>
          <p:nvPr/>
        </p:nvSpPr>
        <p:spPr>
          <a:xfrm>
            <a:off x="7571232" y="4619027"/>
            <a:ext cx="905256" cy="36445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69480" y="432641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30</a:t>
            </a:r>
          </a:p>
        </p:txBody>
      </p:sp>
      <p:sp>
        <p:nvSpPr>
          <p:cNvPr id="22" name="TextBox 21"/>
          <p:cNvSpPr txBox="1"/>
          <p:nvPr/>
        </p:nvSpPr>
        <p:spPr>
          <a:xfrm>
            <a:off x="717804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Drink remade</a:t>
            </a:r>
          </a:p>
          <a:p>
            <a:pPr algn="ctr">
              <a:spcAft>
                <a:spcPts val="400"/>
              </a:spcAft>
            </a:pPr>
            <a:r>
              <a:rPr sz="1000" b="0">
                <a:solidFill>
                  <a:srgbClr val="5B6372"/>
                </a:solidFill>
                <a:latin typeface="Arial"/>
              </a:rPr>
              <a:t>(wrong order)</a:t>
            </a:r>
          </a:p>
        </p:txBody>
      </p:sp>
      <p:sp>
        <p:nvSpPr>
          <p:cNvPr id="23" name="Rectangle 22"/>
          <p:cNvSpPr/>
          <p:nvPr/>
        </p:nvSpPr>
        <p:spPr>
          <a:xfrm>
            <a:off x="9079992" y="4837699"/>
            <a:ext cx="905256" cy="1457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4545091"/>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12</a:t>
            </a:r>
          </a:p>
        </p:txBody>
      </p:sp>
      <p:sp>
        <p:nvSpPr>
          <p:cNvPr id="25" name="TextBox 24"/>
          <p:cNvSpPr txBox="1"/>
          <p:nvPr/>
        </p:nvSpPr>
        <p:spPr>
          <a:xfrm>
            <a:off x="86868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cxnSp>
        <p:nvCxnSpPr>
          <p:cNvPr id="26" name="Connector 25"/>
          <p:cNvCxnSpPr/>
          <p:nvPr/>
        </p:nvCxnSpPr>
        <p:spPr>
          <a:xfrm flipV="1">
            <a:off x="1988820" y="3290426"/>
            <a:ext cx="1508760" cy="71896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97580" y="2849769"/>
            <a:ext cx="1508760" cy="440657"/>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06340" y="2627121"/>
            <a:ext cx="1508760" cy="22264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15100" y="2487966"/>
            <a:ext cx="1508760" cy="13915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023860" y="2432304"/>
            <a:ext cx="1508760" cy="5566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924812" y="394538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8700" y="387223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38%</a:t>
            </a:r>
          </a:p>
        </p:txBody>
      </p:sp>
      <p:sp>
        <p:nvSpPr>
          <p:cNvPr id="33" name="Oval 32"/>
          <p:cNvSpPr/>
          <p:nvPr/>
        </p:nvSpPr>
        <p:spPr>
          <a:xfrm>
            <a:off x="3433572" y="322641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537460" y="315326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66%</a:t>
            </a:r>
          </a:p>
        </p:txBody>
      </p:sp>
      <p:sp>
        <p:nvSpPr>
          <p:cNvPr id="35" name="Oval 34"/>
          <p:cNvSpPr/>
          <p:nvPr/>
        </p:nvSpPr>
        <p:spPr>
          <a:xfrm>
            <a:off x="4942332" y="278576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94860" y="241085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84%</a:t>
            </a:r>
          </a:p>
        </p:txBody>
      </p:sp>
      <p:sp>
        <p:nvSpPr>
          <p:cNvPr id="37" name="Oval 36"/>
          <p:cNvSpPr/>
          <p:nvPr/>
        </p:nvSpPr>
        <p:spPr>
          <a:xfrm>
            <a:off x="6451092" y="256311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03620" y="218820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92%</a:t>
            </a:r>
          </a:p>
        </p:txBody>
      </p:sp>
      <p:sp>
        <p:nvSpPr>
          <p:cNvPr id="39" name="Oval 38"/>
          <p:cNvSpPr/>
          <p:nvPr/>
        </p:nvSpPr>
        <p:spPr>
          <a:xfrm>
            <a:off x="7959852" y="242395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12380" y="204905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41" name="Oval 40"/>
          <p:cNvSpPr/>
          <p:nvPr/>
        </p:nvSpPr>
        <p:spPr>
          <a:xfrm>
            <a:off x="9468612"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21140"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3" name="Connector 42"/>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45" name="TextBox 44"/>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Two causes — a single till at peak hour and milk fetched from the back store — account for about 66% of all delay. Start there.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ROOT CAUSE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a root cause?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deepest cause in the chain that you can actually act on — remove it, and the problem does not come back.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5 Whys Technique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Start with the problem</a:t>
            </a:r>
          </a:p>
          <a:p>
            <a:pPr algn="l">
              <a:spcAft>
                <a:spcPts val="300"/>
              </a:spcAft>
            </a:pPr>
            <a:r>
              <a:rPr sz="1100" b="0">
                <a:solidFill>
                  <a:srgbClr val="5B6372"/>
                </a:solidFill>
                <a:latin typeface="Arial"/>
              </a:rPr>
              <a:t>State the effect precisely, using the data you measured.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Ask why — and answer with evidence</a:t>
            </a:r>
          </a:p>
          <a:p>
            <a:pPr algn="l">
              <a:spcAft>
                <a:spcPts val="300"/>
              </a:spcAft>
            </a:pPr>
            <a:r>
              <a:rPr sz="1100" b="0">
                <a:solidFill>
                  <a:srgbClr val="5B6372"/>
                </a:solidFill>
                <a:latin typeface="Arial"/>
              </a:rPr>
              <a:t>Each answer must be something you can point to, not a guess.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Repeat about five times</a:t>
            </a:r>
          </a:p>
          <a:p>
            <a:pPr algn="l">
              <a:spcAft>
                <a:spcPts val="300"/>
              </a:spcAft>
            </a:pPr>
            <a:r>
              <a:rPr sz="1100" b="0">
                <a:solidFill>
                  <a:srgbClr val="5B6372"/>
                </a:solidFill>
                <a:latin typeface="Arial"/>
              </a:rPr>
              <a:t>Five is a guide, not a rule — stop when you reach an actionable cause.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Watch for blame</a:t>
            </a:r>
          </a:p>
          <a:p>
            <a:pPr algn="l">
              <a:spcAft>
                <a:spcPts val="300"/>
              </a:spcAft>
            </a:pPr>
            <a:r>
              <a:rPr sz="1100" b="0">
                <a:solidFill>
                  <a:srgbClr val="5B6372"/>
                </a:solidFill>
                <a:latin typeface="Arial"/>
              </a:rPr>
              <a:t>If an answer names a person rather than a process, ask why again.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Stop at actionable</a:t>
            </a:r>
          </a:p>
          <a:p>
            <a:pPr algn="l">
              <a:spcAft>
                <a:spcPts val="300"/>
              </a:spcAft>
            </a:pPr>
            <a:r>
              <a:rPr sz="1100" b="0">
                <a:solidFill>
                  <a:srgbClr val="5B6372"/>
                </a:solidFill>
                <a:latin typeface="Arial"/>
              </a:rPr>
              <a:t>The root cause must be something within the team's power to change.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Test the final cause against the evidence before acting on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 IN ACTION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 Worked Example: The BrewBean Morning Queue</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PROBLEM: Customers wait 11.5 minutes at 8am vs a 5-minute target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Drinks are not made fast enough to clear the queue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The barista keeps stopping mid-order</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Milk runs out at the counter and must be fetched from the back store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ROOT CAUSE: No one restocks counter milk before the 7:30am rush begins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CAUSE AND EFFECT · THE 5Ms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Fishbone (Ishikawa) — The Morning Queue Is Too Slow</a:t>
            </a:r>
          </a:p>
        </p:txBody>
      </p:sp>
      <p:cxnSp>
        <p:nvCxnSpPr>
          <p:cNvPr id="6" name="Connector 5"/>
          <p:cNvCxnSpPr/>
          <p:nvPr/>
        </p:nvCxnSpPr>
        <p:spPr>
          <a:xfrm>
            <a:off x="777240" y="3950208"/>
            <a:ext cx="7863840" cy="0"/>
          </a:xfrm>
          <a:prstGeom prst="line">
            <a:avLst/>
          </a:prstGeom>
          <a:ln w="31750">
            <a:solidFill>
              <a:srgbClr val="161B2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641080" y="3310128"/>
            <a:ext cx="2148840" cy="128016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41080" y="3310128"/>
            <a:ext cx="2148840" cy="1280160"/>
          </a:xfrm>
          <a:prstGeom prst="rect">
            <a:avLst/>
          </a:prstGeom>
          <a:noFill/>
        </p:spPr>
        <p:txBody>
          <a:bodyPr wrap="square" anchor="ctr">
            <a:spAutoFit/>
          </a:bodyPr>
          <a:lstStyle/>
          <a:p>
            <a:pPr algn="ctr">
              <a:spcAft>
                <a:spcPts val="400"/>
              </a:spcAft>
            </a:pPr>
            <a:r>
              <a:rPr sz="1300" b="1">
                <a:solidFill>
                  <a:srgbClr val="FFFFFF"/>
                </a:solidFill>
                <a:latin typeface="Arial"/>
              </a:rPr>
              <a:t>Morning</a:t>
            </a:r>
          </a:p>
          <a:p>
            <a:pPr algn="ctr">
              <a:spcAft>
                <a:spcPts val="400"/>
              </a:spcAft>
            </a:pPr>
            <a:r>
              <a:rPr sz="1300" b="1">
                <a:solidFill>
                  <a:srgbClr val="FFFFFF"/>
                </a:solidFill>
                <a:latin typeface="Arial"/>
              </a:rPr>
              <a:t>queue is</a:t>
            </a:r>
          </a:p>
          <a:p>
            <a:pPr algn="ctr">
              <a:spcAft>
                <a:spcPts val="400"/>
              </a:spcAft>
            </a:pPr>
            <a:r>
              <a:rPr sz="1300" b="1">
                <a:solidFill>
                  <a:srgbClr val="FFFFFF"/>
                </a:solidFill>
                <a:latin typeface="Arial"/>
              </a:rPr>
              <a:t>too slow</a:t>
            </a:r>
          </a:p>
        </p:txBody>
      </p:sp>
      <p:cxnSp>
        <p:nvCxnSpPr>
          <p:cNvPr id="9" name="Connector 8"/>
          <p:cNvCxnSpPr/>
          <p:nvPr/>
        </p:nvCxnSpPr>
        <p:spPr>
          <a:xfrm>
            <a:off x="233172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3162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3162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Manpower</a:t>
            </a:r>
          </a:p>
        </p:txBody>
      </p:sp>
      <p:sp>
        <p:nvSpPr>
          <p:cNvPr id="12" name="TextBox 11"/>
          <p:cNvSpPr txBox="1"/>
          <p:nvPr/>
        </p:nvSpPr>
        <p:spPr>
          <a:xfrm>
            <a:off x="1371600" y="1865377"/>
            <a:ext cx="2148840" cy="868680"/>
          </a:xfrm>
          <a:prstGeom prst="rect">
            <a:avLst/>
          </a:prstGeom>
          <a:noFill/>
        </p:spPr>
        <p:txBody>
          <a:bodyPr wrap="square">
            <a:spAutoFit/>
          </a:bodyPr>
          <a:lstStyle/>
          <a:p>
            <a:pPr>
              <a:spcAft>
                <a:spcPts val="100"/>
              </a:spcAft>
            </a:pPr>
            <a:r>
              <a:rPr sz="1000">
                <a:solidFill>
                  <a:srgbClr val="161B26"/>
                </a:solidFill>
                <a:latin typeface="Arial"/>
              </a:rPr>
              <a:t>•  One till at peak</a:t>
            </a:r>
          </a:p>
          <a:p>
            <a:pPr>
              <a:spcAft>
                <a:spcPts val="100"/>
              </a:spcAft>
            </a:pPr>
            <a:r>
              <a:rPr sz="1000">
                <a:solidFill>
                  <a:srgbClr val="161B26"/>
                </a:solidFill>
                <a:latin typeface="Arial"/>
              </a:rPr>
              <a:t>•  No cover for breaks</a:t>
            </a:r>
          </a:p>
          <a:p>
            <a:pPr>
              <a:spcAft>
                <a:spcPts val="100"/>
              </a:spcAft>
            </a:pPr>
            <a:r>
              <a:rPr sz="1000">
                <a:solidFill>
                  <a:srgbClr val="161B26"/>
                </a:solidFill>
                <a:latin typeface="Arial"/>
              </a:rPr>
              <a:t>•  New staff untrained</a:t>
            </a:r>
          </a:p>
        </p:txBody>
      </p:sp>
      <p:cxnSp>
        <p:nvCxnSpPr>
          <p:cNvPr id="13" name="Connector 12"/>
          <p:cNvCxnSpPr/>
          <p:nvPr/>
        </p:nvCxnSpPr>
        <p:spPr>
          <a:xfrm>
            <a:off x="4937760" y="3145536"/>
            <a:ext cx="640080" cy="80467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37660" y="2779776"/>
            <a:ext cx="1600200" cy="365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3766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Machine</a:t>
            </a:r>
          </a:p>
        </p:txBody>
      </p:sp>
      <p:sp>
        <p:nvSpPr>
          <p:cNvPr id="16" name="TextBox 15"/>
          <p:cNvSpPr txBox="1"/>
          <p:nvPr/>
        </p:nvSpPr>
        <p:spPr>
          <a:xfrm>
            <a:off x="3977640" y="1865377"/>
            <a:ext cx="2148840" cy="868680"/>
          </a:xfrm>
          <a:prstGeom prst="rect">
            <a:avLst/>
          </a:prstGeom>
          <a:noFill/>
        </p:spPr>
        <p:txBody>
          <a:bodyPr wrap="square">
            <a:spAutoFit/>
          </a:bodyPr>
          <a:lstStyle/>
          <a:p>
            <a:pPr>
              <a:spcAft>
                <a:spcPts val="100"/>
              </a:spcAft>
            </a:pPr>
            <a:r>
              <a:rPr sz="1000">
                <a:solidFill>
                  <a:srgbClr val="161B26"/>
                </a:solidFill>
                <a:latin typeface="Arial"/>
              </a:rPr>
              <a:t>•  Card machine slow</a:t>
            </a:r>
          </a:p>
          <a:p>
            <a:pPr>
              <a:spcAft>
                <a:spcPts val="100"/>
              </a:spcAft>
            </a:pPr>
            <a:r>
              <a:rPr sz="1000">
                <a:solidFill>
                  <a:srgbClr val="161B26"/>
                </a:solidFill>
                <a:latin typeface="Arial"/>
              </a:rPr>
              <a:t>•  One grinder only</a:t>
            </a:r>
          </a:p>
          <a:p>
            <a:pPr>
              <a:spcAft>
                <a:spcPts val="100"/>
              </a:spcAft>
            </a:pPr>
            <a:r>
              <a:rPr sz="1000">
                <a:solidFill>
                  <a:srgbClr val="161B26"/>
                </a:solidFill>
                <a:latin typeface="Arial"/>
              </a:rPr>
              <a:t>•  Till screen confusing</a:t>
            </a:r>
          </a:p>
        </p:txBody>
      </p:sp>
      <p:cxnSp>
        <p:nvCxnSpPr>
          <p:cNvPr id="17" name="Connector 16"/>
          <p:cNvCxnSpPr/>
          <p:nvPr/>
        </p:nvCxnSpPr>
        <p:spPr>
          <a:xfrm>
            <a:off x="754380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4370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4370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Measurement</a:t>
            </a:r>
          </a:p>
        </p:txBody>
      </p:sp>
      <p:sp>
        <p:nvSpPr>
          <p:cNvPr id="20" name="TextBox 19"/>
          <p:cNvSpPr txBox="1"/>
          <p:nvPr/>
        </p:nvSpPr>
        <p:spPr>
          <a:xfrm>
            <a:off x="6583680" y="1865377"/>
            <a:ext cx="2148840" cy="868680"/>
          </a:xfrm>
          <a:prstGeom prst="rect">
            <a:avLst/>
          </a:prstGeom>
          <a:noFill/>
        </p:spPr>
        <p:txBody>
          <a:bodyPr wrap="square">
            <a:spAutoFit/>
          </a:bodyPr>
          <a:lstStyle/>
          <a:p>
            <a:pPr>
              <a:spcAft>
                <a:spcPts val="100"/>
              </a:spcAft>
            </a:pPr>
            <a:r>
              <a:rPr sz="1000">
                <a:solidFill>
                  <a:srgbClr val="161B26"/>
                </a:solidFill>
                <a:latin typeface="Arial"/>
              </a:rPr>
              <a:t>•  Wait time not tracked</a:t>
            </a:r>
          </a:p>
          <a:p>
            <a:pPr>
              <a:spcAft>
                <a:spcPts val="100"/>
              </a:spcAft>
            </a:pPr>
            <a:r>
              <a:rPr sz="1000">
                <a:solidFill>
                  <a:srgbClr val="161B26"/>
                </a:solidFill>
                <a:latin typeface="Arial"/>
              </a:rPr>
              <a:t>•  No target agreed</a:t>
            </a:r>
          </a:p>
          <a:p>
            <a:pPr>
              <a:spcAft>
                <a:spcPts val="100"/>
              </a:spcAft>
            </a:pPr>
            <a:r>
              <a:rPr sz="1000">
                <a:solidFill>
                  <a:srgbClr val="161B26"/>
                </a:solidFill>
                <a:latin typeface="Arial"/>
              </a:rPr>
              <a:t>•  Complaints not logged</a:t>
            </a:r>
          </a:p>
        </p:txBody>
      </p:sp>
      <p:cxnSp>
        <p:nvCxnSpPr>
          <p:cNvPr id="21" name="Connector 20"/>
          <p:cNvCxnSpPr/>
          <p:nvPr/>
        </p:nvCxnSpPr>
        <p:spPr>
          <a:xfrm flipV="1">
            <a:off x="233172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53162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53162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Method</a:t>
            </a:r>
          </a:p>
        </p:txBody>
      </p:sp>
      <p:sp>
        <p:nvSpPr>
          <p:cNvPr id="24" name="TextBox 23"/>
          <p:cNvSpPr txBox="1"/>
          <p:nvPr/>
        </p:nvSpPr>
        <p:spPr>
          <a:xfrm>
            <a:off x="1371600" y="5175504"/>
            <a:ext cx="2148840" cy="868680"/>
          </a:xfrm>
          <a:prstGeom prst="rect">
            <a:avLst/>
          </a:prstGeom>
          <a:noFill/>
        </p:spPr>
        <p:txBody>
          <a:bodyPr wrap="square">
            <a:spAutoFit/>
          </a:bodyPr>
          <a:lstStyle/>
          <a:p>
            <a:pPr>
              <a:spcAft>
                <a:spcPts val="100"/>
              </a:spcAft>
            </a:pPr>
            <a:r>
              <a:rPr sz="1000">
                <a:solidFill>
                  <a:srgbClr val="161B26"/>
                </a:solidFill>
                <a:latin typeface="Arial"/>
              </a:rPr>
              <a:t>•  No restocking routine</a:t>
            </a:r>
          </a:p>
          <a:p>
            <a:pPr>
              <a:spcAft>
                <a:spcPts val="100"/>
              </a:spcAft>
            </a:pPr>
            <a:r>
              <a:rPr sz="1000">
                <a:solidFill>
                  <a:srgbClr val="161B26"/>
                </a:solidFill>
                <a:latin typeface="Arial"/>
              </a:rPr>
              <a:t>•  Order re-keyed into till</a:t>
            </a:r>
          </a:p>
          <a:p>
            <a:pPr>
              <a:spcAft>
                <a:spcPts val="100"/>
              </a:spcAft>
            </a:pPr>
            <a:r>
              <a:rPr sz="1000">
                <a:solidFill>
                  <a:srgbClr val="161B26"/>
                </a:solidFill>
                <a:latin typeface="Arial"/>
              </a:rPr>
              <a:t>•  No queue policy</a:t>
            </a:r>
          </a:p>
        </p:txBody>
      </p:sp>
      <p:cxnSp>
        <p:nvCxnSpPr>
          <p:cNvPr id="25" name="Connector 24"/>
          <p:cNvCxnSpPr/>
          <p:nvPr/>
        </p:nvCxnSpPr>
        <p:spPr>
          <a:xfrm flipV="1">
            <a:off x="4937760" y="3950208"/>
            <a:ext cx="640080" cy="804672"/>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37660" y="4754880"/>
            <a:ext cx="1600200"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3766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Material</a:t>
            </a:r>
          </a:p>
        </p:txBody>
      </p:sp>
      <p:sp>
        <p:nvSpPr>
          <p:cNvPr id="28" name="TextBox 27"/>
          <p:cNvSpPr txBox="1"/>
          <p:nvPr/>
        </p:nvSpPr>
        <p:spPr>
          <a:xfrm>
            <a:off x="3977640" y="5175504"/>
            <a:ext cx="2148840" cy="868680"/>
          </a:xfrm>
          <a:prstGeom prst="rect">
            <a:avLst/>
          </a:prstGeom>
          <a:noFill/>
        </p:spPr>
        <p:txBody>
          <a:bodyPr wrap="square">
            <a:spAutoFit/>
          </a:bodyPr>
          <a:lstStyle/>
          <a:p>
            <a:pPr>
              <a:spcAft>
                <a:spcPts val="100"/>
              </a:spcAft>
            </a:pPr>
            <a:r>
              <a:rPr sz="1000">
                <a:solidFill>
                  <a:srgbClr val="161B26"/>
                </a:solidFill>
                <a:latin typeface="Arial"/>
              </a:rPr>
              <a:t>•  Milk stored at the back</a:t>
            </a:r>
          </a:p>
          <a:p>
            <a:pPr>
              <a:spcAft>
                <a:spcPts val="100"/>
              </a:spcAft>
            </a:pPr>
            <a:r>
              <a:rPr sz="1000">
                <a:solidFill>
                  <a:srgbClr val="161B26"/>
                </a:solidFill>
                <a:latin typeface="Arial"/>
              </a:rPr>
              <a:t>•  Cups and lids kept apart</a:t>
            </a:r>
          </a:p>
          <a:p>
            <a:pPr>
              <a:spcAft>
                <a:spcPts val="100"/>
              </a:spcAft>
            </a:pPr>
            <a:r>
              <a:rPr sz="1000">
                <a:solidFill>
                  <a:srgbClr val="161B26"/>
                </a:solidFill>
                <a:latin typeface="Arial"/>
              </a:rPr>
              <a:t>•  Beans not pre-ground</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Analyze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Activity 3 — Analyze — Find the Root Cause</a:t>
            </a:r>
          </a:p>
          <a:p>
            <a:pPr algn="l">
              <a:spcAft>
                <a:spcPts val="300"/>
              </a:spcAft>
            </a:pPr>
            <a:r>
              <a:rPr sz="1100" b="0">
                <a:solidFill>
                  <a:srgbClr val="5B6372"/>
                </a:solidFill>
                <a:latin typeface="Arial"/>
              </a:rPr>
              <a:t>A completed 5 Whys chain, a Fishbone diagram with causes sorted by cat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You now know WHERE the delay happens. This activity asks WHY it happens. Most teams jump straight from a symptom to a solution and end up fixing the wrong thing — the queue is long, so hire more staff — when the real cause was something else entirely. Here you drill past the symptom to a cause you can actually act on.</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5 Whys chain, a Fishbone diagram with causes sorted by category, and a shortlist of likely root causes.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Symptom vs cause, 5 Whys, Fishbone (5M) diagram, Pareto chart, common vs special cause variation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3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Activity 3</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Delay reason Pareto data</a:t>
            </a:r>
          </a:p>
          <a:p>
            <a:pPr algn="l">
              <a:spcAft>
                <a:spcPts val="300"/>
              </a:spcAft>
            </a:pPr>
            <a:r>
              <a:rPr sz="1000" b="0">
                <a:solidFill>
                  <a:srgbClr val="5B6372"/>
                </a:solidFill>
                <a:latin typeface="Arial"/>
              </a:rPr>
              <a:t>6 rows — delay-reason-pareto-data.csv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Candidate causes and their evidence</a:t>
            </a:r>
          </a:p>
          <a:p>
            <a:pPr algn="l">
              <a:spcAft>
                <a:spcPts val="300"/>
              </a:spcAft>
            </a:pPr>
            <a:r>
              <a:rPr sz="1000" b="0">
                <a:solidFill>
                  <a:srgbClr val="5B6372"/>
                </a:solidFill>
                <a:latin typeface="Arial"/>
              </a:rPr>
              <a:t>12 rows — cause-evidence-sheet.csv</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A03-Data-Workbook.xlsx</a:t>
            </a:r>
          </a:p>
          <a:p>
            <a:pPr algn="l">
              <a:spcAft>
                <a:spcPts val="300"/>
              </a:spcAft>
            </a:pPr>
            <a:r>
              <a:rPr sz="1000" b="0">
                <a:solidFill>
                  <a:srgbClr val="5B6372"/>
                </a:solidFill>
                <a:latin typeface="Arial"/>
              </a:rPr>
              <a:t>Every dataset and template, one per tab</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ANALYZE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symptom from your Activity 2 baseline at the top of templates/5-whys-template.csv (e.g. 'customers wait an average of 8.9 minutes against a 5-minute promise').</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Ask 'why does that happen?' down the template, each answer becoming the next question. Stop when you reach a PROCESS the team can act on — never at a person.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ANALYZE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templates/fishbone-template.csv and write the problem in the head of the fish.</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Brainstorm possible causes onto the five bones — Manpower, Method, Machine, Material, Measurement — then check them against data/cause-evidence-sheet.csv to see which ones the data actually supports.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ANALYZE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data/delay-reason-pareto-data.csv — the delay reasons from the Activity 2 log, counted and ranked. Read the Cumulative % column and state which few causes account for most of the problem.</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the last column of data/cause-evidence-sheet.csv, decide for each cause whether it is common cause (built into the process) or special cause (a one-off event).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ANALYZE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templates/root-cause-shortlist-template.csv, shortlist the two or three causes best supported by evidence — not by opinion.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5 Whys chain ends in something the team can actually act on, every Fishbone cause sits under one of the five categories, and each shortlisted cause is backed by an observation, not an opinion.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Analyze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Symptom vs cause — Treating the symptom makes the problem come back; treating the cause does not.</a:t>
            </a:r>
          </a:p>
          <a:p>
            <a:pPr>
              <a:spcAft>
                <a:spcPts val="1000"/>
              </a:spcAft>
            </a:pPr>
            <a:r>
              <a:rPr sz="1500">
                <a:solidFill>
                  <a:srgbClr val="161B26"/>
                </a:solidFill>
                <a:latin typeface="Arial"/>
              </a:rPr>
              <a:t>•  Root cause — The cause that, once removed, stops the problem recurring.</a:t>
            </a:r>
          </a:p>
          <a:p>
            <a:pPr>
              <a:spcAft>
                <a:spcPts val="1000"/>
              </a:spcAft>
            </a:pPr>
            <a:r>
              <a:rPr sz="1500">
                <a:solidFill>
                  <a:srgbClr val="161B26"/>
                </a:solidFill>
                <a:latin typeface="Arial"/>
              </a:rPr>
              <a:t>•  5 Whys — Keep asking 'why?' until you reach something you can actually act on.</a:t>
            </a:r>
          </a:p>
          <a:p>
            <a:pPr>
              <a:spcAft>
                <a:spcPts val="1000"/>
              </a:spcAft>
            </a:pPr>
            <a:r>
              <a:rPr sz="1500">
                <a:solidFill>
                  <a:srgbClr val="161B26"/>
                </a:solidFill>
                <a:latin typeface="Arial"/>
              </a:rPr>
              <a:t>•  Fishbone diagram — Sort possible causes into Manpower, Method, Machine, Material and Measurement.</a:t>
            </a:r>
          </a:p>
          <a:p>
            <a:pPr>
              <a:spcAft>
                <a:spcPts val="1000"/>
              </a:spcAft>
            </a:pPr>
            <a:r>
              <a:rPr sz="1500">
                <a:solidFill>
                  <a:srgbClr val="161B26"/>
                </a:solidFill>
                <a:latin typeface="Arial"/>
              </a:rPr>
              <a:t>•  Pareto chart — Roughly 80% of the problem usually comes from 20% of the causes.</a:t>
            </a:r>
          </a:p>
          <a:p>
            <a:pPr>
              <a:spcAft>
                <a:spcPts val="1000"/>
              </a:spcAft>
            </a:pPr>
            <a:r>
              <a:rPr sz="1500">
                <a:solidFill>
                  <a:srgbClr val="161B26"/>
                </a:solidFill>
                <a:latin typeface="Arial"/>
              </a:rPr>
              <a:t>•  Variation — Some variation is normal in the process; some has a specific assignable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IMPROVE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 Fix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Generating solutions · 5S · Mistake proofing · Standard work · Piloting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I</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Generating solutions</a:t>
            </a:r>
          </a:p>
          <a:p>
            <a:pPr algn="l">
              <a:spcAft>
                <a:spcPts val="300"/>
              </a:spcAft>
            </a:pPr>
            <a:r>
              <a:rPr sz="1100" b="0">
                <a:solidFill>
                  <a:srgbClr val="5B6372"/>
                </a:solidFill>
                <a:latin typeface="Arial"/>
              </a:rPr>
              <a:t>Brainstorm against the proven cause — never against the symptom.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Choosing a solution</a:t>
            </a:r>
          </a:p>
          <a:p>
            <a:pPr algn="l">
              <a:spcAft>
                <a:spcPts val="300"/>
              </a:spcAft>
            </a:pPr>
            <a:r>
              <a:rPr sz="1100" b="0">
                <a:solidFill>
                  <a:srgbClr val="5B6372"/>
                </a:solidFill>
                <a:latin typeface="Arial"/>
              </a:rPr>
              <a:t>Compare ideas on impact, effort and risk before committing.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5S</a:t>
            </a:r>
          </a:p>
          <a:p>
            <a:pPr algn="l">
              <a:spcAft>
                <a:spcPts val="300"/>
              </a:spcAft>
            </a:pPr>
            <a:r>
              <a:rPr sz="1100" b="0">
                <a:solidFill>
                  <a:srgbClr val="5B6372"/>
                </a:solidFill>
                <a:latin typeface="Arial"/>
              </a:rPr>
              <a:t>Sort, Set in order, Shine, Standardise, Sustain — a tidy workplace for physical or digital work.</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Mistake proofing</a:t>
            </a:r>
          </a:p>
          <a:p>
            <a:pPr algn="l">
              <a:spcAft>
                <a:spcPts val="300"/>
              </a:spcAft>
            </a:pPr>
            <a:r>
              <a:rPr sz="1100" b="0">
                <a:solidFill>
                  <a:srgbClr val="5B6372"/>
                </a:solidFill>
                <a:latin typeface="Arial"/>
              </a:rPr>
              <a:t>Poka-Yoke makes the error hard or impossible to make.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work</a:t>
            </a:r>
          </a:p>
          <a:p>
            <a:pPr algn="l">
              <a:spcAft>
                <a:spcPts val="300"/>
              </a:spcAft>
            </a:pPr>
            <a:r>
              <a:rPr sz="1100" b="0">
                <a:solidFill>
                  <a:srgbClr val="5B6372"/>
                </a:solidFill>
                <a:latin typeface="Arial"/>
              </a:rPr>
              <a:t>Write the better method down so everyone does it the same way.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Piloting</a:t>
            </a:r>
          </a:p>
          <a:p>
            <a:pPr algn="l">
              <a:spcAft>
                <a:spcPts val="300"/>
              </a:spcAft>
            </a:pPr>
            <a:r>
              <a:rPr sz="1100" b="0">
                <a:solidFill>
                  <a:srgbClr val="5B6372"/>
                </a:solidFill>
                <a:latin typeface="Arial"/>
              </a:rPr>
              <a:t>Try the change small first, so mistakes stay cheap.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DMAIC · I — IMPROVE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Improve — What change will actually fix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Improve phase generates, selects and pilots solutions that address the proven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Improve Phase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Generate candidate solutions against the root cause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Select using weighted criteria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Pilot the change at small scale</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whether the metric actually moved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Standardise the new method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IDEA GENERATION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Generating Solutions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Brainstorming</a:t>
            </a:r>
          </a:p>
          <a:p>
            <a:pPr algn="l">
              <a:spcAft>
                <a:spcPts val="300"/>
              </a:spcAft>
            </a:pPr>
            <a:r>
              <a:rPr sz="1200" b="0">
                <a:solidFill>
                  <a:srgbClr val="5B6372"/>
                </a:solidFill>
                <a:latin typeface="Arial"/>
              </a:rPr>
              <a:t>Free generation against the specific root cause — not the general problem.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Brainwriting</a:t>
            </a:r>
          </a:p>
          <a:p>
            <a:pPr algn="l">
              <a:spcAft>
                <a:spcPts val="300"/>
              </a:spcAft>
            </a:pPr>
            <a:r>
              <a:rPr sz="1200" b="0">
                <a:solidFill>
                  <a:srgbClr val="5B6372"/>
                </a:solidFill>
                <a:latin typeface="Arial"/>
              </a:rPr>
              <a:t>Written idea generation; avoids the loudest voice dominating the room.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Benchmarking</a:t>
            </a:r>
          </a:p>
          <a:p>
            <a:pPr algn="l">
              <a:spcAft>
                <a:spcPts val="300"/>
              </a:spcAft>
            </a:pPr>
            <a:r>
              <a:rPr sz="1200" b="0">
                <a:solidFill>
                  <a:srgbClr val="5B6372"/>
                </a:solidFill>
                <a:latin typeface="Arial"/>
              </a:rPr>
              <a:t>Find who already does this well, internally or externally, and learn from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Anti-brainstorming</a:t>
            </a:r>
          </a:p>
          <a:p>
            <a:pPr algn="l">
              <a:spcAft>
                <a:spcPts val="300"/>
              </a:spcAft>
            </a:pPr>
            <a:r>
              <a:rPr sz="1200" b="0">
                <a:solidFill>
                  <a:srgbClr val="5B6372"/>
                </a:solidFill>
                <a:latin typeface="Arial"/>
              </a:rPr>
              <a:t>Ask how to make the problem worse, then invert every answer.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PRIORITISATION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Prioritising Countermeasures — Impact vs Effort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Quick wins</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low effort. Do these first — they build momentum and credibility.</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projects</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high effort. Worth doing, but plan and resource them properly.</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Fill-ins</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low effort. Do them if there is spare capacity.</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Thankless tasks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high effort. Avoid these entirely.</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REQUIRED  →</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IMPACT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 Organising the Workplace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SORT — remove what is not needed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IN ORDER — a place for everything</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SHINE — clean and inspect regularly</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STANDARDISE — make the first 3S the norm</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SUSTAIN — audit and keep the discipline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IMPROVE · POKA-YOKE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Poka-Yoke — mistake proofing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Design the process so the error is difficult or impossible to make — rather than relying on people to be careful.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The documented, current best-known way to perform the task.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You cannot improve a process that everyone performs differently.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contains</a:t>
            </a:r>
          </a:p>
          <a:p>
            <a:pPr algn="l">
              <a:spcAft>
                <a:spcPts val="300"/>
              </a:spcAft>
            </a:pPr>
            <a:r>
              <a:rPr sz="1100" b="0">
                <a:solidFill>
                  <a:srgbClr val="5B6372"/>
                </a:solidFill>
                <a:latin typeface="Arial"/>
              </a:rPr>
              <a:t>The sequence, the time each step takes and the quality checks.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 writes it</a:t>
            </a:r>
          </a:p>
          <a:p>
            <a:pPr algn="l">
              <a:spcAft>
                <a:spcPts val="300"/>
              </a:spcAft>
            </a:pPr>
            <a:r>
              <a:rPr sz="1100" b="0">
                <a:solidFill>
                  <a:srgbClr val="5B6372"/>
                </a:solidFill>
                <a:latin typeface="Arial"/>
              </a:rPr>
              <a:t>The people who do the work — not a manager writing in isolation.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living</a:t>
            </a:r>
          </a:p>
          <a:p>
            <a:pPr algn="l">
              <a:spcAft>
                <a:spcPts val="300"/>
              </a:spcAft>
            </a:pPr>
            <a:r>
              <a:rPr sz="1100" b="0">
                <a:solidFill>
                  <a:srgbClr val="5B6372"/>
                </a:solidFill>
                <a:latin typeface="Arial"/>
              </a:rPr>
              <a:t>Update it every time a better method is proven.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Lean insight</a:t>
            </a:r>
          </a:p>
          <a:p>
            <a:pPr algn="l">
              <a:spcAft>
                <a:spcPts val="300"/>
              </a:spcAft>
            </a:pPr>
            <a:r>
              <a:rPr sz="1100" b="0">
                <a:solidFill>
                  <a:srgbClr val="5B6372"/>
                </a:solidFill>
                <a:latin typeface="Arial"/>
              </a:rPr>
              <a:t>Standard work is the baseline for the NEXT improvement, not a straitjacket.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PILOTING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Piloting Before Full Rollout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pilot</a:t>
            </a:r>
          </a:p>
          <a:p>
            <a:pPr algn="l">
              <a:spcAft>
                <a:spcPts val="300"/>
              </a:spcAft>
            </a:pPr>
            <a:r>
              <a:rPr sz="1100" b="0">
                <a:solidFill>
                  <a:srgbClr val="5B6372"/>
                </a:solidFill>
                <a:latin typeface="Arial"/>
              </a:rPr>
              <a:t>Exposes practical issues cheaply, before they affect every customer.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small</a:t>
            </a:r>
          </a:p>
          <a:p>
            <a:pPr algn="l">
              <a:spcAft>
                <a:spcPts val="300"/>
              </a:spcAft>
            </a:pPr>
            <a:r>
              <a:rPr sz="1100" b="0">
                <a:solidFill>
                  <a:srgbClr val="5B6372"/>
                </a:solidFill>
                <a:latin typeface="Arial"/>
              </a:rPr>
              <a:t>One shift, one counter or one drink type is usually enough.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Measure the same way</a:t>
            </a:r>
          </a:p>
          <a:p>
            <a:pPr algn="l">
              <a:spcAft>
                <a:spcPts val="300"/>
              </a:spcAft>
            </a:pPr>
            <a:r>
              <a:rPr sz="1100" b="0">
                <a:solidFill>
                  <a:srgbClr val="5B6372"/>
                </a:solidFill>
                <a:latin typeface="Arial"/>
              </a:rPr>
              <a:t>Use the identical operational definition as your baseline, or you cannot compare.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it long enough</a:t>
            </a:r>
          </a:p>
          <a:p>
            <a:pPr algn="l">
              <a:spcAft>
                <a:spcPts val="300"/>
              </a:spcAft>
            </a:pPr>
            <a:r>
              <a:rPr sz="1100" b="0">
                <a:solidFill>
                  <a:srgbClr val="5B6372"/>
                </a:solidFill>
                <a:latin typeface="Arial"/>
              </a:rPr>
              <a:t>Cover a full business cycle so you see normal variation.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Decide honestly</a:t>
            </a:r>
          </a:p>
          <a:p>
            <a:pPr algn="l">
              <a:spcAft>
                <a:spcPts val="300"/>
              </a:spcAft>
            </a:pPr>
            <a:r>
              <a:rPr sz="1100" b="0">
                <a:solidFill>
                  <a:srgbClr val="5B6372"/>
                </a:solidFill>
                <a:latin typeface="Arial"/>
              </a:rPr>
              <a:t>Adopt, adapt or abandon — a failed pilot that saves a bad rollout is a success.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Then standardise</a:t>
            </a:r>
          </a:p>
          <a:p>
            <a:pPr algn="l">
              <a:spcAft>
                <a:spcPts val="300"/>
              </a:spcAft>
            </a:pPr>
            <a:r>
              <a:rPr sz="1100" b="0">
                <a:solidFill>
                  <a:srgbClr val="5B6372"/>
                </a:solidFill>
                <a:latin typeface="Arial"/>
              </a:rPr>
              <a:t>Only after the pilot proves the gain do you write it into standard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Improve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Activity 4 — Improve — Choose and Pilot a Countermeasure</a:t>
            </a:r>
          </a:p>
          <a:p>
            <a:pPr algn="l">
              <a:spcAft>
                <a:spcPts val="300"/>
              </a:spcAft>
            </a:pPr>
            <a:r>
              <a:rPr sz="1100" b="0">
                <a:solidFill>
                  <a:srgbClr val="5B6372"/>
                </a:solidFill>
                <a:latin typeface="Arial"/>
              </a:rPr>
              <a:t>A brainstormed countermeasure list, an impact/effort grid, one selecte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4</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cause is only worth finding if something changes because of it. Take the root causes you shortlisted in Activity 3, generate countermeasures against them, and pick one that is small enough to try next week. The discipline here is to solve the CAUSE you proved, not the symptom you started with.</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brainstormed countermeasure list, an impact/effort grid, one selected countermeasure and a simple pilot plan.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Brainstorming, impact/effort screening, 5S, mistake proofing (Poka-Yoke), standard work, piloting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4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Activity 4</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Countermeasure options with impact, effort and cost</a:t>
            </a:r>
          </a:p>
          <a:p>
            <a:pPr algn="l">
              <a:spcAft>
                <a:spcPts val="300"/>
              </a:spcAft>
            </a:pPr>
            <a:r>
              <a:rPr sz="1000" b="0">
                <a:solidFill>
                  <a:srgbClr val="5B6372"/>
                </a:solidFill>
                <a:latin typeface="Arial"/>
              </a:rPr>
              <a:t>12 rows — countermeasure-options.csv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Pilot week results</a:t>
            </a:r>
          </a:p>
          <a:p>
            <a:pPr algn="l">
              <a:spcAft>
                <a:spcPts val="300"/>
              </a:spcAft>
            </a:pPr>
            <a:r>
              <a:rPr sz="1000" b="0">
                <a:solidFill>
                  <a:srgbClr val="5B6372"/>
                </a:solidFill>
                <a:latin typeface="Arial"/>
              </a:rPr>
              <a:t>6 rows — pilot-week-results.csv</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A04-Data-Workbook.xlsx</a:t>
            </a:r>
          </a:p>
          <a:p>
            <a:pPr algn="l">
              <a:spcAft>
                <a:spcPts val="300"/>
              </a:spcAft>
            </a:pPr>
            <a:r>
              <a:rPr sz="1000" b="0">
                <a:solidFill>
                  <a:srgbClr val="5B6372"/>
                </a:solidFill>
                <a:latin typeface="Arial"/>
              </a:rPr>
              <a:t>Every dataset and template, one per tab</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IMPROVE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your top root cause from Activity 3 at the top of templates/countermeasure-brainstorm-template.csv — every idea must address THIS cause.</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Brainstorm at least six countermeasures without judging any of them yet, then compare your list with data/countermeasure-options.csv, which holds the twelve the team generated.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IMPROVE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whether 5S would help: is anything at the counter hard to find, out of place or untidy?</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whether mistake proofing would help: could the wrong order be made impossible rather than merely discouraged?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IMPROVE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the Impact and Effort scores in data/countermeasure-options.csv, plot every idea on templates/impact-effort-grid-template.csv and pick ONE from the high-impact, low-effort corner.</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templates/standard-work-and-pilot-template.csv, write the improved method as standard work — short numbered steps with an unambiguous done/not-done check.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IMPROVE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the pilot plan rows of the same template: what changes, who runs it, what you will measure, the baseline to beat, and how you will know it worked. THEN open data/pilot-week-results.csv and compare what actually happened — pay close attention to Thursday.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selected countermeasure clearly addresses the root cause from Activity 3 (not the symptom), and your pilot plan names a measure, an owner and a review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Improve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Generating solutions — Brainstorm against the proven cause — never against the symptom.</a:t>
            </a:r>
          </a:p>
          <a:p>
            <a:pPr>
              <a:spcAft>
                <a:spcPts val="1000"/>
              </a:spcAft>
            </a:pPr>
            <a:r>
              <a:rPr sz="1500">
                <a:solidFill>
                  <a:srgbClr val="161B26"/>
                </a:solidFill>
                <a:latin typeface="Arial"/>
              </a:rPr>
              <a:t>•  Choosing a solution — Compare ideas on impact, effort and risk before committing.</a:t>
            </a:r>
          </a:p>
          <a:p>
            <a:pPr>
              <a:spcAft>
                <a:spcPts val="1000"/>
              </a:spcAft>
            </a:pPr>
            <a:r>
              <a:rPr sz="1500">
                <a:solidFill>
                  <a:srgbClr val="161B26"/>
                </a:solidFill>
                <a:latin typeface="Arial"/>
              </a:rPr>
              <a:t>•  5S — Sort, Set in order, Shine, Standardise, Sustain — a tidy workplace for physical or digital work.</a:t>
            </a:r>
          </a:p>
          <a:p>
            <a:pPr>
              <a:spcAft>
                <a:spcPts val="1000"/>
              </a:spcAft>
            </a:pPr>
            <a:r>
              <a:rPr sz="1500">
                <a:solidFill>
                  <a:srgbClr val="161B26"/>
                </a:solidFill>
                <a:latin typeface="Arial"/>
              </a:rPr>
              <a:t>•  Mistake proofing — Poka-Yoke makes the error hard or impossible to make.</a:t>
            </a:r>
          </a:p>
          <a:p>
            <a:pPr>
              <a:spcAft>
                <a:spcPts val="1000"/>
              </a:spcAft>
            </a:pPr>
            <a:r>
              <a:rPr sz="1500">
                <a:solidFill>
                  <a:srgbClr val="161B26"/>
                </a:solidFill>
                <a:latin typeface="Arial"/>
              </a:rPr>
              <a:t>•  Standard work — Write the better method down so everyone does it the same way.</a:t>
            </a:r>
          </a:p>
          <a:p>
            <a:pPr>
              <a:spcAft>
                <a:spcPts val="1000"/>
              </a:spcAft>
            </a:pPr>
            <a:r>
              <a:rPr sz="1500">
                <a:solidFill>
                  <a:srgbClr val="161B26"/>
                </a:solidFill>
                <a:latin typeface="Arial"/>
              </a:rPr>
              <a:t>•  Piloting — Try the change small first, so mistakes stay cheap.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CONTROL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 Hold the Gain</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Control plan · Visual management · SOPs · Team huddles · Handover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Control matters</a:t>
            </a:r>
          </a:p>
          <a:p>
            <a:pPr algn="l">
              <a:spcAft>
                <a:spcPts val="300"/>
              </a:spcAft>
            </a:pPr>
            <a:r>
              <a:rPr sz="1100" b="0">
                <a:solidFill>
                  <a:srgbClr val="5B6372"/>
                </a:solidFill>
                <a:latin typeface="Arial"/>
              </a:rPr>
              <a:t>Without Control, processes quietly drift back to the old way.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Control plan</a:t>
            </a:r>
          </a:p>
          <a:p>
            <a:pPr algn="l">
              <a:spcAft>
                <a:spcPts val="300"/>
              </a:spcAft>
            </a:pPr>
            <a:r>
              <a:rPr sz="1100" b="0">
                <a:solidFill>
                  <a:srgbClr val="5B6372"/>
                </a:solidFill>
                <a:latin typeface="Arial"/>
              </a:rPr>
              <a:t>What we measure, the target, how often, who owns it, and what to do if it slips.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management</a:t>
            </a:r>
          </a:p>
          <a:p>
            <a:pPr algn="l">
              <a:spcAft>
                <a:spcPts val="300"/>
              </a:spcAft>
            </a:pPr>
            <a:r>
              <a:rPr sz="1100" b="0">
                <a:solidFill>
                  <a:srgbClr val="5B6372"/>
                </a:solidFill>
                <a:latin typeface="Arial"/>
              </a:rPr>
              <a:t>Make performance visible so problems are noticed the same day.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operating procedures</a:t>
            </a:r>
          </a:p>
          <a:p>
            <a:pPr algn="l">
              <a:spcAft>
                <a:spcPts val="300"/>
              </a:spcAft>
            </a:pPr>
            <a:r>
              <a:rPr sz="1100" b="0">
                <a:solidFill>
                  <a:srgbClr val="5B6372"/>
                </a:solidFill>
                <a:latin typeface="Arial"/>
              </a:rPr>
              <a:t>Written instructions that lock in the improved method.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Short regular stand-ups catch problems while they are still small.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Handover</a:t>
            </a:r>
          </a:p>
          <a:p>
            <a:pPr algn="l">
              <a:spcAft>
                <a:spcPts val="300"/>
              </a:spcAft>
            </a:pPr>
            <a:r>
              <a:rPr sz="1100" b="0">
                <a:solidFill>
                  <a:srgbClr val="5B6372"/>
                </a:solidFill>
                <a:latin typeface="Arial"/>
              </a:rPr>
              <a:t>Give the improved process back to the people who run it every day.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DMAIC · C —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Control — How do we make the gain stick?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Without the Control phase, processes drift back to the old way within months and the whole project is wasted.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Control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control plan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up monitoring and visual management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Document the SOP and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Hand over to the process owner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Close the project and share the learning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Plan — Six Required Columns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Metric</a:t>
            </a:r>
          </a:p>
          <a:p>
            <a:pPr algn="l">
              <a:spcAft>
                <a:spcPts val="300"/>
              </a:spcAft>
            </a:pPr>
            <a:r>
              <a:rPr sz="1100" b="0">
                <a:solidFill>
                  <a:srgbClr val="5B6372"/>
                </a:solidFill>
                <a:latin typeface="Arial"/>
              </a:rPr>
              <a:t>What is being monitored — the same operational definition as the baseline.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Target</a:t>
            </a:r>
          </a:p>
          <a:p>
            <a:pPr algn="l">
              <a:spcAft>
                <a:spcPts val="300"/>
              </a:spcAft>
            </a:pPr>
            <a:r>
              <a:rPr sz="1100" b="0">
                <a:solidFill>
                  <a:srgbClr val="5B6372"/>
                </a:solidFill>
                <a:latin typeface="Arial"/>
              </a:rPr>
              <a:t>The agreed acceptable value or range.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How the measurement is taken — report, dashboard, sample or audit.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Frequency</a:t>
            </a:r>
          </a:p>
          <a:p>
            <a:pPr algn="l">
              <a:spcAft>
                <a:spcPts val="300"/>
              </a:spcAft>
            </a:pPr>
            <a:r>
              <a:rPr sz="1100" b="0">
                <a:solidFill>
                  <a:srgbClr val="5B6372"/>
                </a:solidFill>
                <a:latin typeface="Arial"/>
              </a:rPr>
              <a:t>How often it is checked: per shift, daily, weekly.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Owner</a:t>
            </a:r>
          </a:p>
          <a:p>
            <a:pPr algn="l">
              <a:spcAft>
                <a:spcPts val="300"/>
              </a:spcAft>
            </a:pPr>
            <a:r>
              <a:rPr sz="1100" b="0">
                <a:solidFill>
                  <a:srgbClr val="5B6372"/>
                </a:solidFill>
                <a:latin typeface="Arial"/>
              </a:rPr>
              <a:t>The named person accountable — a role, never 'the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Reaction plan</a:t>
            </a:r>
          </a:p>
          <a:p>
            <a:pPr algn="l">
              <a:spcAft>
                <a:spcPts val="300"/>
              </a:spcAft>
            </a:pPr>
            <a:r>
              <a:rPr sz="1100" b="0">
                <a:solidFill>
                  <a:srgbClr val="5B6372"/>
                </a:solidFill>
                <a:latin typeface="Arial"/>
              </a:rPr>
              <a:t>Exactly what happens when the metric falls outside target.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CONTROL · MAKING IT VISIBLE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Visual Management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boards</a:t>
            </a:r>
          </a:p>
          <a:p>
            <a:pPr algn="l">
              <a:spcAft>
                <a:spcPts val="300"/>
              </a:spcAft>
            </a:pPr>
            <a:r>
              <a:rPr sz="1100" b="0">
                <a:solidFill>
                  <a:srgbClr val="5B6372"/>
                </a:solidFill>
                <a:latin typeface="Arial"/>
              </a:rPr>
              <a:t>Display the metric, the target and the current status where the team works.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Make it obvious</a:t>
            </a:r>
          </a:p>
          <a:p>
            <a:pPr algn="l">
              <a:spcAft>
                <a:spcPts val="300"/>
              </a:spcAft>
            </a:pPr>
            <a:r>
              <a:rPr sz="1100" b="0">
                <a:solidFill>
                  <a:srgbClr val="5B6372"/>
                </a:solidFill>
                <a:latin typeface="Arial"/>
              </a:rPr>
              <a:t>Anyone should see whether performance is on target within a few seconds.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A short daily stand-up at the board — 15 minutes maximum.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Drives ownership</a:t>
            </a:r>
          </a:p>
          <a:p>
            <a:pPr algn="l">
              <a:spcAft>
                <a:spcPts val="300"/>
              </a:spcAft>
            </a:pPr>
            <a:r>
              <a:rPr sz="1100" b="0">
                <a:solidFill>
                  <a:srgbClr val="5B6372"/>
                </a:solidFill>
                <a:latin typeface="Arial"/>
              </a:rPr>
              <a:t>When performance is visible, the team owns it rather than the manager.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Surfaces issues early</a:t>
            </a:r>
          </a:p>
          <a:p>
            <a:pPr algn="l">
              <a:spcAft>
                <a:spcPts val="300"/>
              </a:spcAft>
            </a:pPr>
            <a:r>
              <a:rPr sz="1100" b="0">
                <a:solidFill>
                  <a:srgbClr val="5B6372"/>
                </a:solidFill>
                <a:latin typeface="Arial"/>
              </a:rPr>
              <a:t>Problems are raised while they are still small and cheap to fix.</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current</a:t>
            </a:r>
          </a:p>
          <a:p>
            <a:pPr algn="l">
              <a:spcAft>
                <a:spcPts val="300"/>
              </a:spcAft>
            </a:pPr>
            <a:r>
              <a:rPr sz="1100" b="0">
                <a:solidFill>
                  <a:srgbClr val="5B6372"/>
                </a:solidFill>
                <a:latin typeface="Arial"/>
              </a:rPr>
              <a:t>An out-of-date board is worse than no board — it teaches people to ignore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SOPs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Operating Procedures (SOPs)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Written instructions</a:t>
            </a:r>
          </a:p>
          <a:p>
            <a:pPr algn="l">
              <a:spcAft>
                <a:spcPts val="300"/>
              </a:spcAft>
            </a:pPr>
            <a:r>
              <a:rPr sz="1200" b="0">
                <a:solidFill>
                  <a:srgbClr val="5B6372"/>
                </a:solidFill>
                <a:latin typeface="Arial"/>
              </a:rPr>
              <a:t>Describe how to perform the task to achieve the required result.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measures</a:t>
            </a:r>
          </a:p>
          <a:p>
            <a:pPr algn="l">
              <a:spcAft>
                <a:spcPts val="300"/>
              </a:spcAft>
            </a:pPr>
            <a:r>
              <a:rPr sz="1200" b="0">
                <a:solidFill>
                  <a:srgbClr val="5B6372"/>
                </a:solidFill>
                <a:latin typeface="Arial"/>
              </a:rPr>
              <a:t>State the benchmarks and quality checks, not only the steps.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Centrally accessible</a:t>
            </a:r>
          </a:p>
          <a:p>
            <a:pPr algn="l">
              <a:spcAft>
                <a:spcPts val="300"/>
              </a:spcAft>
            </a:pPr>
            <a:r>
              <a:rPr sz="1200" b="0">
                <a:solidFill>
                  <a:srgbClr val="5B6372"/>
                </a:solidFill>
                <a:latin typeface="Arial"/>
              </a:rPr>
              <a:t>Held in one agreed place everyone can reach and search.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Version controlled</a:t>
            </a:r>
          </a:p>
          <a:p>
            <a:pPr algn="l">
              <a:spcAft>
                <a:spcPts val="300"/>
              </a:spcAft>
            </a:pPr>
            <a:r>
              <a:rPr sz="1200" b="0">
                <a:solidFill>
                  <a:srgbClr val="5B6372"/>
                </a:solidFill>
                <a:latin typeface="Arial"/>
              </a:rPr>
              <a:t>It must be obvious which version is current.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CLOSING THE PROJECT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Project Handover and Closure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Confirm the improvement held for a full cycle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Hand the control plan to the named process owner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 everyone on the new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Document the financial or service benefit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Share the learning so others can reuse it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Control</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Activity 5 — Control — Hold the Gain and Hand Over</a:t>
            </a:r>
          </a:p>
          <a:p>
            <a:pPr algn="l">
              <a:spcAft>
                <a:spcPts val="300"/>
              </a:spcAft>
            </a:pPr>
            <a:r>
              <a:rPr sz="1100" b="0">
                <a:solidFill>
                  <a:srgbClr val="5B6372"/>
                </a:solidFill>
                <a:latin typeface="Arial"/>
              </a:rPr>
              <a:t>A completed control plan, a visual management board sketch, and a 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Most improvements work for a fortnight and then quietly disappear. Control is what stops that happening. Close the BrewBean Cafe story by deciding what will be measured from now on, who owns it, what happens when it slips, and how the improved process is handed back to the people who run it every day.</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control plan, a visual management board sketch, and a one-page summary of the whole DMAIC story.</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Control plan, visual management, SOPs, team huddles, handover, one-page summary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5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Activity 5</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Post-improvement monitoring — four weeks</a:t>
            </a:r>
          </a:p>
          <a:p>
            <a:pPr algn="l">
              <a:spcAft>
                <a:spcPts val="300"/>
              </a:spcAft>
            </a:pPr>
            <a:r>
              <a:rPr sz="1000" b="0">
                <a:solidFill>
                  <a:srgbClr val="5B6372"/>
                </a:solidFill>
                <a:latin typeface="Arial"/>
              </a:rPr>
              <a:t>20 rows — post-improvement-monitoring.csv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Control plan — worked example (one row completed)</a:t>
            </a:r>
          </a:p>
          <a:p>
            <a:pPr algn="l">
              <a:spcAft>
                <a:spcPts val="300"/>
              </a:spcAft>
            </a:pPr>
            <a:r>
              <a:rPr sz="1000" b="0">
                <a:solidFill>
                  <a:srgbClr val="5B6372"/>
                </a:solidFill>
                <a:latin typeface="Arial"/>
              </a:rPr>
              <a:t>4 rows — control-plan-example.csv</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A05-Data-Workbook.xlsx</a:t>
            </a:r>
          </a:p>
          <a:p>
            <a:pPr algn="l">
              <a:spcAft>
                <a:spcPts val="300"/>
              </a:spcAft>
            </a:pPr>
            <a:r>
              <a:rPr sz="1000" b="0">
                <a:solidFill>
                  <a:srgbClr val="5B6372"/>
                </a:solidFill>
                <a:latin typeface="Arial"/>
              </a:rPr>
              <a:t>Every dataset and template, one per tab</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CONTROL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data/post-improvement-monitoring.csv — four weeks of daily figures after the pilot was made permanent. Choose the ONE measure that tells you the improvement is still working.</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Look at data/control-plan-example.csv for the worked first row, then complete templates/control-plan-template.csv: measure, target, how often it is checked, where it is recorded and who owns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CONTROL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reaction plan — the exact steps to take when the measure misses target. Then find week 3 in the monitoring data and state which day your plan would have triggered on.</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Sketch a simple visual board that would have made the week-3 drift visible to the whole shift on day one.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CONTROL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templates/sop-and-huddle-template.csv, turn your Activity 4 standard work into a short SOP the cafe could actually pin up.</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the huddle rows of the same template: who attends, what is reviewed, who runs it and how long it lasts.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CONTROL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templates/one-page-summary-template.csv, summarise the whole project — problem, cause, countermeasure, result and control — and name who you hand it over to and when.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control plan names a measure, a target, a frequency and an owner; your reaction plan says what to DO when it slips; and your one-page summary tells the complete DMAIC story from problem to handover.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Why Control matters — Without Control, processes quietly drift back to the old way.</a:t>
            </a:r>
          </a:p>
          <a:p>
            <a:pPr>
              <a:spcAft>
                <a:spcPts val="1000"/>
              </a:spcAft>
            </a:pPr>
            <a:r>
              <a:rPr sz="1500">
                <a:solidFill>
                  <a:srgbClr val="161B26"/>
                </a:solidFill>
                <a:latin typeface="Arial"/>
              </a:rPr>
              <a:t>•  Control plan — What we measure, the target, how often, who owns it, and what to do if it slips.</a:t>
            </a:r>
          </a:p>
          <a:p>
            <a:pPr>
              <a:spcAft>
                <a:spcPts val="1000"/>
              </a:spcAft>
            </a:pPr>
            <a:r>
              <a:rPr sz="1500">
                <a:solidFill>
                  <a:srgbClr val="161B26"/>
                </a:solidFill>
                <a:latin typeface="Arial"/>
              </a:rPr>
              <a:t>•  Visual management — Make performance visible so problems are noticed the same day.</a:t>
            </a:r>
          </a:p>
          <a:p>
            <a:pPr>
              <a:spcAft>
                <a:spcPts val="1000"/>
              </a:spcAft>
            </a:pPr>
            <a:r>
              <a:rPr sz="1500">
                <a:solidFill>
                  <a:srgbClr val="161B26"/>
                </a:solidFill>
                <a:latin typeface="Arial"/>
              </a:rPr>
              <a:t>•  Standard operating procedures — Written instructions that lock in the improved method.</a:t>
            </a:r>
          </a:p>
          <a:p>
            <a:pPr>
              <a:spcAft>
                <a:spcPts val="1000"/>
              </a:spcAft>
            </a:pPr>
            <a:r>
              <a:rPr sz="1500">
                <a:solidFill>
                  <a:srgbClr val="161B26"/>
                </a:solidFill>
                <a:latin typeface="Arial"/>
              </a:rPr>
              <a:t>•  Team huddles — Short regular stand-ups catch problems while they are still small.</a:t>
            </a:r>
          </a:p>
          <a:p>
            <a:pPr>
              <a:spcAft>
                <a:spcPts val="1000"/>
              </a:spcAft>
            </a:pPr>
            <a:r>
              <a:rPr sz="1500">
                <a:solidFill>
                  <a:srgbClr val="161B26"/>
                </a:solidFill>
                <a:latin typeface="Arial"/>
              </a:rPr>
              <a:t>•  Handover — Give the improved process back to the people who run it every day.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IMPROVEMENT PACKAGE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You Achieved — The Full DMAIC Journey</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Captured VOC and CTQ</a:t>
            </a:r>
          </a:p>
          <a:p>
            <a:pPr>
              <a:spcAft>
                <a:spcPts val="600"/>
              </a:spcAft>
            </a:pPr>
            <a:r>
              <a:rPr sz="1100">
                <a:solidFill>
                  <a:srgbClr val="161B26"/>
                </a:solidFill>
                <a:latin typeface="Arial"/>
              </a:rPr>
              <a:t>•  Wrote the problem statement</a:t>
            </a:r>
          </a:p>
          <a:p>
            <a:pPr>
              <a:spcAft>
                <a:spcPts val="600"/>
              </a:spcAft>
            </a:pPr>
            <a:r>
              <a:rPr sz="1100">
                <a:solidFill>
                  <a:srgbClr val="161B26"/>
                </a:solidFill>
                <a:latin typeface="Arial"/>
              </a:rPr>
              <a:t>•  Set a SMART goal</a:t>
            </a:r>
          </a:p>
          <a:p>
            <a:pPr>
              <a:spcAft>
                <a:spcPts val="600"/>
              </a:spcAft>
            </a:pPr>
            <a:r>
              <a:rPr sz="1100">
                <a:solidFill>
                  <a:srgbClr val="161B26"/>
                </a:solidFill>
                <a:latin typeface="Arial"/>
              </a:rPr>
              <a:t>•  Agreed the scope</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SIPOC</a:t>
            </a:r>
          </a:p>
          <a:p>
            <a:pPr>
              <a:spcAft>
                <a:spcPts val="600"/>
              </a:spcAft>
            </a:pPr>
            <a:r>
              <a:rPr sz="1100">
                <a:solidFill>
                  <a:srgbClr val="161B26"/>
                </a:solidFill>
                <a:latin typeface="Arial"/>
              </a:rPr>
              <a:t>•  Mapped the process</a:t>
            </a:r>
          </a:p>
          <a:p>
            <a:pPr>
              <a:spcAft>
                <a:spcPts val="600"/>
              </a:spcAft>
            </a:pPr>
            <a:r>
              <a:rPr sz="1100">
                <a:solidFill>
                  <a:srgbClr val="161B26"/>
                </a:solidFill>
                <a:latin typeface="Arial"/>
              </a:rPr>
              <a:t>•  Classified the data</a:t>
            </a:r>
          </a:p>
          <a:p>
            <a:pPr>
              <a:spcAft>
                <a:spcPts val="600"/>
              </a:spcAft>
            </a:pPr>
            <a:r>
              <a:rPr sz="1100">
                <a:solidFill>
                  <a:srgbClr val="161B26"/>
                </a:solidFill>
                <a:latin typeface="Arial"/>
              </a:rPr>
              <a:t>•  Tallied the 8 wastes</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Ran the 5 Whys</a:t>
            </a:r>
          </a:p>
          <a:p>
            <a:pPr>
              <a:spcAft>
                <a:spcPts val="600"/>
              </a:spcAft>
            </a:pPr>
            <a:r>
              <a:rPr sz="1100">
                <a:solidFill>
                  <a:srgbClr val="161B26"/>
                </a:solidFill>
                <a:latin typeface="Arial"/>
              </a:rPr>
              <a:t>•  Built the Fishbone</a:t>
            </a:r>
          </a:p>
          <a:p>
            <a:pPr>
              <a:spcAft>
                <a:spcPts val="600"/>
              </a:spcAft>
            </a:pPr>
            <a:r>
              <a:rPr sz="1100">
                <a:solidFill>
                  <a:srgbClr val="161B26"/>
                </a:solidFill>
                <a:latin typeface="Arial"/>
              </a:rPr>
              <a:t>•  Read the Pareto chart</a:t>
            </a:r>
          </a:p>
          <a:p>
            <a:pPr>
              <a:spcAft>
                <a:spcPts val="600"/>
              </a:spcAft>
            </a:pPr>
            <a:r>
              <a:rPr sz="1100">
                <a:solidFill>
                  <a:srgbClr val="161B26"/>
                </a:solidFill>
                <a:latin typeface="Arial"/>
              </a:rPr>
              <a:t>•  Shortlisted the causes</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Generated countermeasures</a:t>
            </a:r>
          </a:p>
          <a:p>
            <a:pPr>
              <a:spcAft>
                <a:spcPts val="600"/>
              </a:spcAft>
            </a:pPr>
            <a:r>
              <a:rPr sz="1100">
                <a:solidFill>
                  <a:srgbClr val="161B26"/>
                </a:solidFill>
                <a:latin typeface="Arial"/>
              </a:rPr>
              <a:t>•  Screened on impact/effort</a:t>
            </a:r>
          </a:p>
          <a:p>
            <a:pPr>
              <a:spcAft>
                <a:spcPts val="600"/>
              </a:spcAft>
            </a:pPr>
            <a:r>
              <a:rPr sz="1100">
                <a:solidFill>
                  <a:srgbClr val="161B26"/>
                </a:solidFill>
                <a:latin typeface="Arial"/>
              </a:rPr>
              <a:t>•  Wrote standard work</a:t>
            </a:r>
          </a:p>
          <a:p>
            <a:pPr>
              <a:spcAft>
                <a:spcPts val="600"/>
              </a:spcAft>
            </a:pPr>
            <a:r>
              <a:rPr sz="1100">
                <a:solidFill>
                  <a:srgbClr val="161B26"/>
                </a:solidFill>
                <a:latin typeface="Arial"/>
              </a:rPr>
              <a:t>•  Planned the pilot</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control plan</a:t>
            </a:r>
          </a:p>
          <a:p>
            <a:pPr>
              <a:spcAft>
                <a:spcPts val="600"/>
              </a:spcAft>
            </a:pPr>
            <a:r>
              <a:rPr sz="1100">
                <a:solidFill>
                  <a:srgbClr val="161B26"/>
                </a:solidFill>
                <a:latin typeface="Arial"/>
              </a:rPr>
              <a:t>•  Set visual management</a:t>
            </a:r>
          </a:p>
          <a:p>
            <a:pPr>
              <a:spcAft>
                <a:spcPts val="600"/>
              </a:spcAft>
            </a:pPr>
            <a:r>
              <a:rPr sz="1100">
                <a:solidFill>
                  <a:srgbClr val="161B26"/>
                </a:solidFill>
                <a:latin typeface="Arial"/>
              </a:rPr>
              <a:t>•  Wrote the SOP</a:t>
            </a:r>
          </a:p>
          <a:p>
            <a:pPr>
              <a:spcAft>
                <a:spcPts val="600"/>
              </a:spcAft>
            </a:pPr>
            <a:r>
              <a:rPr sz="1100">
                <a:solidFill>
                  <a:srgbClr val="161B26"/>
                </a:solidFill>
                <a:latin typeface="Arial"/>
              </a:rPr>
              <a:t>•  Handed 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BUILT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Integrated Improvement Package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VOC and CTQ table</a:t>
            </a:r>
          </a:p>
          <a:p>
            <a:pPr algn="l">
              <a:spcAft>
                <a:spcPts val="300"/>
              </a:spcAft>
            </a:pPr>
            <a:r>
              <a:rPr sz="1000" b="0">
                <a:solidFill>
                  <a:srgbClr val="5B6372"/>
                </a:solidFill>
                <a:latin typeface="Arial"/>
              </a:rPr>
              <a:t>Customer requirements translated into measurable CTQs.</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Problem statement and goal</a:t>
            </a:r>
          </a:p>
          <a:p>
            <a:pPr algn="l">
              <a:spcAft>
                <a:spcPts val="300"/>
              </a:spcAft>
            </a:pPr>
            <a:r>
              <a:rPr sz="1000" b="0">
                <a:solidFill>
                  <a:srgbClr val="5B6372"/>
                </a:solidFill>
                <a:latin typeface="Arial"/>
              </a:rPr>
              <a:t>A clear problem statement, a SMART goal and an agreed scope.</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SIPOC and process map</a:t>
            </a:r>
          </a:p>
          <a:p>
            <a:pPr algn="l">
              <a:spcAft>
                <a:spcPts val="300"/>
              </a:spcAft>
            </a:pPr>
            <a:r>
              <a:rPr sz="1000" b="0">
                <a:solidFill>
                  <a:srgbClr val="5B6372"/>
                </a:solidFill>
                <a:latin typeface="Arial"/>
              </a:rPr>
              <a:t>The BrewBean Cafe process as it really runs, with times against each step.</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Waste tally sheet</a:t>
            </a:r>
          </a:p>
          <a:p>
            <a:pPr algn="l">
              <a:spcAft>
                <a:spcPts val="300"/>
              </a:spcAft>
            </a:pPr>
            <a:r>
              <a:rPr sz="1000" b="0">
                <a:solidFill>
                  <a:srgbClr val="5B6372"/>
                </a:solidFill>
                <a:latin typeface="Arial"/>
              </a:rPr>
              <a:t>Every observed waste tagged to one of the eight DOWNTIME types.</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5 Whys and Fishbone</a:t>
            </a:r>
          </a:p>
          <a:p>
            <a:pPr algn="l">
              <a:spcAft>
                <a:spcPts val="300"/>
              </a:spcAft>
            </a:pPr>
            <a:r>
              <a:rPr sz="1000" b="0">
                <a:solidFill>
                  <a:srgbClr val="5B6372"/>
                </a:solidFill>
                <a:latin typeface="Arial"/>
              </a:rPr>
              <a:t>A cause chain and a categorised cause diagram for your problem.</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Countermeasure and pilot plan</a:t>
            </a:r>
          </a:p>
          <a:p>
            <a:pPr algn="l">
              <a:spcAft>
                <a:spcPts val="300"/>
              </a:spcAft>
            </a:pPr>
            <a:r>
              <a:rPr sz="1000" b="0">
                <a:solidFill>
                  <a:srgbClr val="5B6372"/>
                </a:solidFill>
                <a:latin typeface="Arial"/>
              </a:rPr>
              <a:t>One selected countermeasure with standard work and a one-week pilot.</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Control plan and SOP</a:t>
            </a:r>
          </a:p>
          <a:p>
            <a:pPr algn="l">
              <a:spcAft>
                <a:spcPts val="300"/>
              </a:spcAft>
            </a:pPr>
            <a:r>
              <a:rPr sz="1000" b="0">
                <a:solidFill>
                  <a:srgbClr val="5B6372"/>
                </a:solidFill>
                <a:latin typeface="Arial"/>
              </a:rPr>
              <a:t>Measure, target, frequency, owner, reaction plan and handover.</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One-page summary</a:t>
            </a:r>
          </a:p>
          <a:p>
            <a:pPr algn="l">
              <a:spcAft>
                <a:spcPts val="300"/>
              </a:spcAft>
            </a:pPr>
            <a:r>
              <a:rPr sz="1000" b="0">
                <a:solidFill>
                  <a:srgbClr val="5B6372"/>
                </a:solidFill>
                <a:latin typeface="Arial"/>
              </a:rPr>
              <a:t>The complete DMAIC story from problem to handover.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BEFORE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Final Readiness Checklist</a:t>
            </a:r>
          </a:p>
        </p:txBody>
      </p:sp>
      <p:sp>
        <p:nvSpPr>
          <p:cNvPr id="6" name="Rectangle 5"/>
          <p:cNvSpPr/>
          <p:nvPr/>
        </p:nvSpPr>
        <p:spPr>
          <a:xfrm>
            <a:off x="777240" y="178308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6550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6550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define quality, Lean, Six Sigma and Lean Six Sigma in your own words?</a:t>
            </a:r>
          </a:p>
        </p:txBody>
      </p:sp>
      <p:sp>
        <p:nvSpPr>
          <p:cNvPr id="11" name="Rectangle 10"/>
          <p:cNvSpPr/>
          <p:nvPr/>
        </p:nvSpPr>
        <p:spPr>
          <a:xfrm>
            <a:off x="777240" y="229514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295144"/>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38658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five DMAIC phases and say what each one delivers?</a:t>
            </a:r>
          </a:p>
        </p:txBody>
      </p:sp>
      <p:sp>
        <p:nvSpPr>
          <p:cNvPr id="16" name="Rectangle 15"/>
          <p:cNvSpPr/>
          <p:nvPr/>
        </p:nvSpPr>
        <p:spPr>
          <a:xfrm>
            <a:off x="777240" y="280720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807208"/>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26791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26791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289864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the belt roles and where the White Belt contributes?</a:t>
            </a:r>
          </a:p>
        </p:txBody>
      </p:sp>
      <p:sp>
        <p:nvSpPr>
          <p:cNvPr id="21" name="Rectangle 20"/>
          <p:cNvSpPr/>
          <p:nvPr/>
        </p:nvSpPr>
        <p:spPr>
          <a:xfrm>
            <a:off x="777240" y="331927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3319272"/>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319125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319125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341071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trace a VOC statement through to a measurable CTQ?</a:t>
            </a:r>
          </a:p>
        </p:txBody>
      </p:sp>
      <p:sp>
        <p:nvSpPr>
          <p:cNvPr id="26" name="Rectangle 25"/>
          <p:cNvSpPr/>
          <p:nvPr/>
        </p:nvSpPr>
        <p:spPr>
          <a:xfrm>
            <a:off x="777240" y="3831336"/>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3831336"/>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3922776"/>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write a problem statement that contains no solution?</a:t>
            </a:r>
          </a:p>
        </p:txBody>
      </p:sp>
      <p:sp>
        <p:nvSpPr>
          <p:cNvPr id="31" name="Rectangle 30"/>
          <p:cNvSpPr/>
          <p:nvPr/>
        </p:nvSpPr>
        <p:spPr>
          <a:xfrm>
            <a:off x="777240" y="434340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4343400"/>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421538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421538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443484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eight wastes and give a workplace example of each?</a:t>
            </a:r>
          </a:p>
        </p:txBody>
      </p:sp>
      <p:sp>
        <p:nvSpPr>
          <p:cNvPr id="36" name="Rectangle 35"/>
          <p:cNvSpPr/>
          <p:nvPr/>
        </p:nvSpPr>
        <p:spPr>
          <a:xfrm>
            <a:off x="777240" y="485546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4855464"/>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47274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47274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494690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the difference between a symptom and a root cause?</a:t>
            </a:r>
          </a:p>
        </p:txBody>
      </p:sp>
      <p:sp>
        <p:nvSpPr>
          <p:cNvPr id="41" name="Rectangle 40"/>
          <p:cNvSpPr/>
          <p:nvPr/>
        </p:nvSpPr>
        <p:spPr>
          <a:xfrm>
            <a:off x="777240" y="536752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77240" y="5367528"/>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014984" y="5239512"/>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1709928" y="545896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run a 5 Whys chain and sort causes on a Fishbone diagram?</a:t>
            </a:r>
          </a:p>
        </p:txBody>
      </p:sp>
      <p:sp>
        <p:nvSpPr>
          <p:cNvPr id="46" name="Rectangle 45"/>
          <p:cNvSpPr/>
          <p:nvPr/>
        </p:nvSpPr>
        <p:spPr>
          <a:xfrm>
            <a:off x="777240" y="587959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77240" y="5879592"/>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1014984" y="57515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14984" y="57515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50" name="TextBox 49"/>
          <p:cNvSpPr txBox="1"/>
          <p:nvPr/>
        </p:nvSpPr>
        <p:spPr>
          <a:xfrm>
            <a:off x="1709928" y="597103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what a control plan needs to hold a gain?</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NEXT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Continuing Your Lean Six Sigma Journey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Apply it at work</a:t>
            </a:r>
          </a:p>
          <a:p>
            <a:pPr algn="l">
              <a:spcAft>
                <a:spcPts val="300"/>
              </a:spcAft>
            </a:pPr>
            <a:r>
              <a:rPr sz="1200" b="0">
                <a:solidFill>
                  <a:srgbClr val="5B6372"/>
                </a:solidFill>
                <a:latin typeface="Arial"/>
              </a:rPr>
              <a:t>Spot and log the eight wastes in your own area within 30 days.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a:t>
            </a:r>
          </a:p>
          <a:p>
            <a:pPr algn="l">
              <a:spcAft>
                <a:spcPts val="300"/>
              </a:spcAft>
            </a:pPr>
            <a:r>
              <a:rPr sz="1200" b="0">
                <a:solidFill>
                  <a:srgbClr val="5B6372"/>
                </a:solidFill>
                <a:latin typeface="Arial"/>
              </a:rPr>
              <a:t>The next step — supports DMAIC projects and the data analysis behind them.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Keep the templates</a:t>
            </a:r>
          </a:p>
          <a:p>
            <a:pPr algn="l">
              <a:spcAft>
                <a:spcPts val="300"/>
              </a:spcAft>
            </a:pPr>
            <a:r>
              <a:rPr sz="1200" b="0">
                <a:solidFill>
                  <a:srgbClr val="5B6372"/>
                </a:solidFill>
                <a:latin typeface="Arial"/>
              </a:rPr>
              <a:t>Your activity outputs are reusable templates for real improvement work.</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Join the conversation</a:t>
            </a:r>
          </a:p>
          <a:p>
            <a:pPr algn="l">
              <a:spcAft>
                <a:spcPts val="300"/>
              </a:spcAft>
            </a:pPr>
            <a:r>
              <a:rPr sz="1200" b="0">
                <a:solidFill>
                  <a:srgbClr val="5B6372"/>
                </a:solidFill>
                <a:latin typeface="Arial"/>
              </a:rPr>
              <a:t>Raise improvement ideas in your team; small changes spread by example.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YOUR FEEDBACK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TRAQOM Survey</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Open the TRAQOM survey link on the LMS</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last four characters of your NRIC/FIN</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six-digit course run ID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Complete and submit — your feedback shapes this course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Certificate &amp; Support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Two e-certificates are awarded on demonstrating competency and achieving at least 75% attendance.</a:t>
            </a:r>
          </a:p>
          <a:p>
            <a:pPr>
              <a:spcAft>
                <a:spcPts val="1000"/>
              </a:spcAft>
            </a:pPr>
            <a:r>
              <a:rPr sz="2000">
                <a:solidFill>
                  <a:srgbClr val="161B26"/>
                </a:solidFill>
                <a:latin typeface="Arial"/>
              </a:rPr>
              <a:t>•  A SkillsFuture Statement of Attainment (SOA) is issued for the WSQ assessment.</a:t>
            </a:r>
          </a:p>
          <a:p>
            <a:pPr>
              <a:spcAft>
                <a:spcPts val="1000"/>
              </a:spcAft>
            </a:pPr>
            <a:r>
              <a:rPr sz="2000">
                <a:solidFill>
                  <a:srgbClr val="161B26"/>
                </a:solidFill>
                <a:latin typeface="Arial"/>
              </a:rPr>
              <a:t>•  Email: enquiry@tertiaryinfotech.com</a:t>
            </a:r>
          </a:p>
          <a:p>
            <a:pPr>
              <a:spcAft>
                <a:spcPts val="1000"/>
              </a:spcAft>
            </a:pPr>
            <a:r>
              <a:rPr sz="2000">
                <a:solidFill>
                  <a:srgbClr val="161B26"/>
                </a:solidFill>
                <a:latin typeface="Arial"/>
              </a:rPr>
              <a:t>•  Tel / WhatsApp: +65 6100 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ASSESSMENT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Final Assessment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Written Assessment (SAQ, 30 minutes) followed by the Case Study (30 minutes). Both are open book.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(Assessment)</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Attendance must be recorded before you begin the papers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Go and spot one waste in your own process this month — that is where every improvement starts.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