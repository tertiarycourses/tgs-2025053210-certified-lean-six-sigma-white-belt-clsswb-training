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94360"/>
            <a:ext cx="777240" cy="777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96596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8813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61B26"/>
                </a:solidFill>
                <a:latin typeface="Arial"/>
              </a:rPr>
              <a:t>Certified Lean Six Sigma White Belt (CLSSWB) 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160520"/>
            <a:ext cx="24688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434840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WSQ Course Code: TGS-2025053210
Conducted by Tertiary Infotech Academy Pte Ltd | UEN 201200696W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5989320"/>
            <a:ext cx="1691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1F6FEB"/>
                </a:solidFill>
                <a:latin typeface="Arial"/>
              </a:rPr>
              <a:t>Version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Copyright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Copyright 2026 Tertiary Infotech Academy Pte Ltd. All rights reserved.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No part of this material may be reproduced without written permission.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Provider: Tertiary Infotech Academy Pte Ltd, UEN 201200696W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636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36F82"/>
                </a:solidFill>
                <a:latin typeface="Arial"/>
              </a:rPr>
              <a:t>YOUR TRAINER  - 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828800"/>
            <a:ext cx="3337560" cy="4251960"/>
          </a:xfrm>
          <a:prstGeom prst="rect">
            <a:avLst/>
          </a:prstGeom>
          <a:solidFill>
            <a:srgbClr val="F3F6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828800"/>
            <a:ext cx="3337560" cy="100584"/>
          </a:xfrm>
          <a:prstGeom prst="rect">
            <a:avLst/>
          </a:prstGeom>
          <a:solidFill>
            <a:srgbClr val="636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37360" y="2423160"/>
            <a:ext cx="1600200" cy="1600200"/>
          </a:xfrm>
          <a:prstGeom prst="ellipse">
            <a:avLst/>
          </a:prstGeom>
          <a:solidFill>
            <a:srgbClr val="63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25196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800600"/>
            <a:ext cx="2743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5B6372"/>
                </a:solidFill>
                <a:latin typeface="Arial"/>
              </a:rPr>
              <a:t>General Trainer template -
to be completed by the trainer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828800"/>
            <a:ext cx="6995160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17720" y="182880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1975104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92040" y="2249424"/>
            <a:ext cx="4069080" cy="15240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17720" y="2560320"/>
            <a:ext cx="6995160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17720" y="2560320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2706624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Arial"/>
              </a:rPr>
              <a:t>TITLE / DESIGNATION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40" y="2980944"/>
            <a:ext cx="4069080" cy="15240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17720" y="3291840"/>
            <a:ext cx="6995160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17720" y="3291840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3438144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92040" y="3712464"/>
            <a:ext cx="4069080" cy="15240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17720" y="4023360"/>
            <a:ext cx="6995160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17720" y="4023360"/>
            <a:ext cx="73152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92040" y="4169664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59E0B"/>
                </a:solidFill>
                <a:latin typeface="Arial"/>
              </a:rPr>
              <a:t>AREAS OF EXPERTISE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92040" y="4443984"/>
            <a:ext cx="4069080" cy="15240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17720" y="4754880"/>
            <a:ext cx="6995160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17720" y="475488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92040" y="4901184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92040" y="5175504"/>
            <a:ext cx="4069080" cy="15240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17720" y="5486400"/>
            <a:ext cx="6995160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17720" y="5486400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92040" y="5632704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92040" y="5907024"/>
            <a:ext cx="4069080" cy="15240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828800"/>
            <a:ext cx="3337560" cy="4251960"/>
          </a:xfrm>
          <a:prstGeom prst="rect">
            <a:avLst/>
          </a:prstGeom>
          <a:solidFill>
            <a:srgbClr val="F3F6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828800"/>
            <a:ext cx="333756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83080" y="2331720"/>
            <a:ext cx="1572768" cy="15727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70832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892040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828800"/>
            <a:ext cx="7040880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17720" y="1828800"/>
            <a:ext cx="73152" cy="9144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01184" y="2048256"/>
            <a:ext cx="6217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1184" y="2304288"/>
            <a:ext cx="6309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2944368"/>
            <a:ext cx="7040880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17720" y="2944368"/>
            <a:ext cx="73152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01184" y="3163824"/>
            <a:ext cx="6217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Arial"/>
              </a:rPr>
              <a:t>QUALIFICATIONS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1184" y="3419856"/>
            <a:ext cx="6309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61B26"/>
                </a:solidFill>
                <a:latin typeface="Arial"/>
              </a:rPr>
              <a:t>PhD - specialises in AI, automation and software engineering.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4059936"/>
            <a:ext cx="7040880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17720" y="4059936"/>
            <a:ext cx="73152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01184" y="4279392"/>
            <a:ext cx="6217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7C3AED"/>
                </a:solidFill>
                <a:latin typeface="Arial"/>
              </a:rPr>
              <a:t>DELIVERS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01184" y="4535424"/>
            <a:ext cx="6309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61B26"/>
                </a:solidFill>
                <a:latin typeface="Arial"/>
              </a:rPr>
              <a:t>WSQ courses on AI agents, automation and app development.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5175504"/>
            <a:ext cx="7040880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17720" y="5175504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01184" y="5394960"/>
            <a:ext cx="6217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59E0B"/>
                </a:solidFill>
                <a:latin typeface="Arial"/>
              </a:rPr>
              <a:t>FOUNDER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01184" y="5650992"/>
            <a:ext cx="6309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Day 1: Lean Six Sigma foundations, customer value, process walk, waste, basic data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Day 2: 5 Whys, Fishbone, 5S, standard work, visual controls, improvement summary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Final sharing, assessment readiness, feedback and 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5349240" cy="1389888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73152" cy="13898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" y="2103120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167128"/>
            <a:ext cx="397763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91640"/>
            <a:ext cx="5349240" cy="1389888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691640"/>
            <a:ext cx="73152" cy="13898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47688" y="2103120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167128"/>
            <a:ext cx="397763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0">
                <a:solidFill>
                  <a:srgbClr val="161B26"/>
                </a:solidFill>
                <a:latin typeface="Arial"/>
              </a:rPr>
              <a:t>Participate actively - no question is too small.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37560"/>
            <a:ext cx="5349240" cy="1389888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337560"/>
            <a:ext cx="73152" cy="13898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8408" y="3749040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813048"/>
            <a:ext cx="397763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337560"/>
            <a:ext cx="5349240" cy="1389888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337560"/>
            <a:ext cx="73152" cy="13898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47688" y="3749040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813048"/>
            <a:ext cx="397763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983480"/>
            <a:ext cx="5349240" cy="1389888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4983480"/>
            <a:ext cx="73152" cy="138988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8408" y="5394960"/>
            <a:ext cx="566928" cy="566928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458968"/>
            <a:ext cx="397763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4983480"/>
            <a:ext cx="5349240" cy="1389888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4983480"/>
            <a:ext cx="73152" cy="13898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647688" y="5394960"/>
            <a:ext cx="566928" cy="5669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5458968"/>
            <a:ext cx="397763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Course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Explain Lean, Six Sigma, DMAIC, and the White Belt support role.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Recognize value, waste, handoffs, waiting, defects, and variation.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Use simple process maps, check sheets, charts, 5 Whys, Fishbone, 5S, and action plans.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Prepare a small improvement portfolio based on the lab sequence.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Digital Attendance and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Take AM, PM, and assessment digital attendance when instructed.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Access courseware, assessment information, and submissions on the LMS.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Minimum attendance requirements apply for WSQ funding and assessment eligibility.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Inform the trainer immediately if you cannot access the LMS or attendance QR.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Assessment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Assessment checks understanding of White Belt concepts and practical lab evidence.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Keep all lab deliverables in your improvement portfolio.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Use the Learner Guide and lab outputs to prepare for final review.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Competency depends on completing required assessment instructions.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Assessment Flow Reminder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404872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026664"/>
            <a:ext cx="1508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61B26"/>
                </a:solidFill>
                <a:latin typeface="Arial"/>
              </a:rPr>
              <a:t>TRAQOM digital
attendance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017520"/>
            <a:ext cx="228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5B6372"/>
                </a:solidFill>
                <a:latin typeface="Arial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224028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63240" y="2404872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2968" y="3026664"/>
            <a:ext cx="1508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61B26"/>
                </a:solidFill>
                <a:latin typeface="Arial"/>
              </a:rPr>
              <a:t>Assessment digital
attendance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017520"/>
            <a:ext cx="228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5B6372"/>
                </a:solidFill>
                <a:latin typeface="Arial"/>
              </a:rP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224028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57800" y="240487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3026664"/>
            <a:ext cx="1508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61B26"/>
                </a:solidFill>
                <a:latin typeface="Arial"/>
              </a:rPr>
              <a:t>Sit WA then Case
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017520"/>
            <a:ext cx="228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5B6372"/>
                </a:solidFill>
                <a:latin typeface="Arial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79" y="224028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52359" y="240487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2087" y="3026664"/>
            <a:ext cx="1508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61B26"/>
                </a:solidFill>
                <a:latin typeface="Arial"/>
              </a:rPr>
              <a:t>Submit answers on
the LMS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79" y="3017520"/>
            <a:ext cx="228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5B6372"/>
                </a:solidFill>
                <a:latin typeface="Arial"/>
              </a:rP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64040" y="224028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46920" y="2404872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56648" y="3026664"/>
            <a:ext cx="1508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61B26"/>
                </a:solidFill>
                <a:latin typeface="Arial"/>
              </a:rPr>
              <a:t>Sign Assessment
Summary 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4983480"/>
            <a:ext cx="7818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B6372"/>
                </a:solidFill>
                <a:latin typeface="Arial"/>
              </a:rPr>
              <a:t>The TRAQOM QR code and LMS submission are both handled through the LMS/TMS portal.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Portfolio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Use one simple process throughout the course where possible.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Save each lab output using clear names.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Capture evidence from observation, simple data, and peer/trainer feedback.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Escalate complex or sensitive issues to a process owner, manager, Green Belt, or Black Belt.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240280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743200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161B26"/>
                </a:solidFill>
                <a:latin typeface="Arial"/>
              </a:rPr>
              <a:t>Lean Six Sigma 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886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5B6372"/>
                </a:solidFill>
                <a:latin typeface="Arial"/>
              </a:rPr>
              <a:t>Shared language for value, waste, variation, and DMAIC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CORE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Lean and Six Sigma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074920" cy="42519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783080"/>
            <a:ext cx="5074920" cy="42519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9339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9339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Six Sigma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45720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Increase customer value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Reduce waste and improve flow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Make work easier to see and perform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514600"/>
            <a:ext cx="45720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Reduce defects and variation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Use data and structured problem solving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Improve process capability over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CORE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DMAIC: The White Belt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05740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1508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Define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91840"/>
            <a:ext cx="1965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61B26"/>
                </a:solidFill>
                <a:latin typeface="Arial"/>
              </a:rPr>
              <a:t>Clarify customer need and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30428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5B6372"/>
                </a:solidFill>
                <a:latin typeface="Arial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205740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2212848"/>
            <a:ext cx="1508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Measure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291840"/>
            <a:ext cx="1965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61B26"/>
                </a:solidFill>
                <a:latin typeface="Arial"/>
              </a:rPr>
              <a:t>Collect simple facts and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30428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5B6372"/>
                </a:solidFill>
                <a:latin typeface="Arial"/>
              </a:rP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205740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2212848"/>
            <a:ext cx="1508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Analyze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3291840"/>
            <a:ext cx="1965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61B26"/>
                </a:solidFill>
                <a:latin typeface="Arial"/>
              </a:rPr>
              <a:t>Discuss causes without blame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30428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5B6372"/>
                </a:solidFill>
                <a:latin typeface="Arial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05740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80" y="2212848"/>
            <a:ext cx="1508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Improve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3291840"/>
            <a:ext cx="1965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61B26"/>
                </a:solidFill>
                <a:latin typeface="Arial"/>
              </a:rPr>
              <a:t>Support practical countermeasures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30428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5B6372"/>
                </a:solidFill>
                <a:latin typeface="Arial"/>
              </a:rP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205740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2212848"/>
            <a:ext cx="1508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3291840"/>
            <a:ext cx="1965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61B26"/>
                </a:solidFill>
                <a:latin typeface="Arial"/>
              </a:rPr>
              <a:t>Help sustain the new standard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75488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B6372"/>
                </a:solidFill>
                <a:latin typeface="Arial"/>
              </a:rPr>
              <a:t>White Belts do not need to lead DMAIC projects; they help the team use shared language, observe work, and keep evidence organized.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CORE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White Belt Role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Participates in improvement conversations and lab activities.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Observes work, records simple facts, and helps collect basic data.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Identifies waste and improvement opportunities.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Supports implementation of agreed standard work and visual controls.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Escalates issues outside the White Belt scope.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1: Lean Six Sigma 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Explain Lean and Six Sigma in plain language.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Describe DMAIC.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Understand the White Belt support role.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Select a simple process for the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1: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You are new to Lean Six Sigma and have been asked to support improvement activity in your team. Your first task is to understand the basic language and choose a simple process to observe.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1: Step-by-Step (1/2)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Write a one-sentence definition of Lean.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Write a one-sentence definition of Six Sigma.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List the five DMAIC phases.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Write one simple example activity for each DMAIC phase.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List three ways a White Belt can support an improvement project.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1: Step-by-Step (2/2)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List two situations that should be escalated to a Green Belt, Black Belt, manager, or process owner.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Choose one simple workplace process.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Write why the process matters to customers, learners, staff, or the business.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Write one problem you have seen in the process.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Share your process example with another learner.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LAB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1: Validation and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074920" cy="42519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783080"/>
            <a:ext cx="5074920" cy="42519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9339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Validation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9339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Deliverables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45720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Your Lean and Six Sigma definitions are understandable.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You can explain DMAIC without reading from notes.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Your selected process is simple enough to observe.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You know the limits of the White Belt role.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514600"/>
            <a:ext cx="45720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Lean and Six Sigma definitions.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DMAIC summary.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White Belt role notes.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Selected process example.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240280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743200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161B26"/>
                </a:solidFill>
                <a:latin typeface="Arial"/>
              </a:rPr>
              <a:t>Customer Value and Process Thinking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886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5B6372"/>
                </a:solidFill>
                <a:latin typeface="Arial"/>
              </a:rPr>
              <a:t>Define customers, outputs, boundaries, and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PROCESS THINKING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SIPOC: Define the Process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965960"/>
            <a:ext cx="1417320" cy="141732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4831"/>
            <a:ext cx="1417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Supplier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50592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5B6372"/>
                </a:solidFill>
                <a:latin typeface="Arial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965960"/>
            <a:ext cx="1417320" cy="141732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2084831"/>
            <a:ext cx="1417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761488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450592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5B6372"/>
                </a:solidFill>
                <a:latin typeface="Arial"/>
              </a:rP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1965960"/>
            <a:ext cx="1417320" cy="141732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2084831"/>
            <a:ext cx="1417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761488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450592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5B6372"/>
                </a:solidFill>
                <a:latin typeface="Arial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1965960"/>
            <a:ext cx="1417320" cy="141732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2084831"/>
            <a:ext cx="1417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2761488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450592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5B6372"/>
                </a:solidFill>
                <a:latin typeface="Arial"/>
              </a:rP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1965960"/>
            <a:ext cx="1417320" cy="141732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0" y="2084831"/>
            <a:ext cx="1417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761488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Customer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160520"/>
            <a:ext cx="9784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Start with the customer and the process output.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Keep the map simple enough for a short discussion.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Use SIPOC before detailed process mapping.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2: Customer Value and Process Thinking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Identify process customers.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Define customer value.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Build a simple SIPOC.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Identify value-added and non-value-added activity.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2: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A process exists to deliver value to someone. You will identify the customer, what they need, and the process boundary before looking for waste.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2: Step-by-Step (1/3)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Write the name of your selected process.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Identify the customer or receiver of the process output.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Write what the customer needs from the process.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Define the process start point.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Define the process end 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2: Step-by-Step (2/3)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List suppliers.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List inputs.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List 5 to 7 major process steps.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List outputs.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List customers.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2: Step-by-Step (3/3)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Create a simple SIPOC table.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Mark each major step as value-added, business-required, or non-value-added.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Circle one step that looks slow, unclear, repeated, or error-prone.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LAB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2: Validation and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074920" cy="42519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783080"/>
            <a:ext cx="5074920" cy="42519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9339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Validation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9339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Deliverables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45720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The customer is clearly identified.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SIPOC has a clear start and end boundary.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Activity labels are based on customer value.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One improvement opportunity is identified.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514600"/>
            <a:ext cx="45720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Customer value worksheet.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Simple SIPOC.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Value-added activity list.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Improvement opportunity note.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240280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743200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161B26"/>
                </a:solidFill>
                <a:latin typeface="Arial"/>
              </a:rPr>
              <a:t>Process Observation and Waste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886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5B6372"/>
                </a:solidFill>
                <a:latin typeface="Arial"/>
              </a:rPr>
              <a:t>Observe work respectfully and identify TIMWOODS waste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WASTE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TIMWOODS Waste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Transport: unnecessary movement of items or information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Inventory: excess work-in-progress or backlog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Motion: unnecessary movement by people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Waiting: idle time or delayed handoffs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Overproduction: work done before it is needed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Overprocessing: extra checking or unnecessary steps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Defects: errors, rework, missing or incorrect information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Skills: underused ideas, knowledge, or capability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3: Process Walk and Simple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Observe a process respectfully.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Record actual work steps.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Draw a simple process map.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Identify handoffs and waiting.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3: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Processes often work differently from how people describe them. You will observe the real workflow and map what actually happens.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3: Step-by-Step (1/3)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Review the process from Lab 02.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Visit the place where work happens or interview someone who performs the work.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Observe without blaming, interrupting, or correcting people.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Record the actual steps in order.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Record who performs each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3: Step-by-Step (2/3)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Note handoffs between people, teams, tools, or systems.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Note waiting points.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Note rework, repeated checking, or unclear decisions.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Draw a simple flowchart using boxes and arrows.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Add decision diamonds where the process branches.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3: Step-by-Step (3/3)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Mark one process step that should be discussed with the process owner.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Ask another learner whether your map is easy to follow.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LAB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3: Validation and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074920" cy="42519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783080"/>
            <a:ext cx="5074920" cy="42519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9339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Validation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9339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Deliverables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45720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The map follows the actual process sequence.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Handoffs and waits are visible.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Observations are factual and respectful.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The map can be understood by someone outside the process.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514600"/>
            <a:ext cx="45720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Process walk notes.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Simple process map.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Handoff and waiting notes.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Process owner discussion point.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4: Identify TIMWOODS Waste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Recognize the eight wastes.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Find waste in a simple process.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Link waste to customer impact.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Prioritize one waste area.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4: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Lean improvement starts with seeing waste. You will review your process map and identify where time, effort, information, or talent is being wasted.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4: Step-by-Step (1/4)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Review TIMWOODS: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Transport.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Inventory.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Motion.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Waiting.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4: Step-by-Step (2/4)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Overproduction.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Overprocessing.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Defects.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Skills.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Open the process map from Lab 03.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4: Step-by-Step (3/4)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Review each process step one by one.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Mark examples of unnecessary movement of items or information.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Mark queues, backlog, or work-in-progress.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Mark unnecessary movement by people.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Mark waiting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4: Step-by-Step (4/4)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Mark work done too early or in too much quantity.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Mark extra checking or repeated entry.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Mark errors, rework, missing information, or corrections.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Mark places where people's ideas or skills are not used.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Choose the one waste area with the largest visible impact.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LAB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4: Validation and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074920" cy="42519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783080"/>
            <a:ext cx="5074920" cy="42519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9339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Validation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9339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Deliverables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45720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Waste examples are tied to specific process steps.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The priority waste has a clear customer or business impact.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Observations are specific enough for discussion.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The team avoids blaming individuals.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514600"/>
            <a:ext cx="45720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TIMWOODS waste table.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Marked process map.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Priority waste statement.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One improvement question.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240280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743200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161B26"/>
                </a:solidFill>
                <a:latin typeface="Arial"/>
              </a:rPr>
              <a:t>Basic Data and Visuals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886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5B6372"/>
                </a:solidFill>
                <a:latin typeface="Arial"/>
              </a:rPr>
              <a:t>Use simple counts and charts to support better discussions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DATA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Check Sheet to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Choose one issue that can be counted safely.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Use clear categories so everyone counts the same thing.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Tally occurrences consistently.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Sort categories from largest to smallest.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Use a bar chart, Pareto-style view, or run chart to start the conversation.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5: Basic Data and Visuals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Create a basic check sheet.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Count issue categories.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Build a simple visual.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Use data to focus discussion.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5: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Improvement should not rely only on opinion. You will collect a small amount of simple data and use it to identify what to discuss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5: Step-by-Step (1/3)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Choose one issue or waste area from Lab 04.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Decide what can be counted safely.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Define clear categories.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Create a check sheet with category names and tally marks.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Collect sample data or use a trainer-provided dataset.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5: Step-by-Step (2/3)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Add the tally marks.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Calculate category totals.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Calculate total observations.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Create a bar chart.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Sort the chart from largest category to smallest category.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5: Step-by-Step (3/3)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Create a run chart if the data includes dates or times.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Write one sentence explaining what the visual shows.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Write one question that should be investigated.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LAB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5: Validation and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074920" cy="42519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783080"/>
            <a:ext cx="5074920" cy="42519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9339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Validation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9339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Deliverables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45720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Categories are clear and not overlapping.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Counts are added correctly.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The chart has a title and labels.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The conclusion is based on the data shown.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514600"/>
            <a:ext cx="45720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Check sheet.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Tally table.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Bar chart or Pareto-style chart.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Run chart if time data is available.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Data observation note.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240280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743200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161B26"/>
                </a:solidFill>
                <a:latin typeface="Arial"/>
              </a:rPr>
              <a:t>Cause Discussion and Improvement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886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5B6372"/>
                </a:solidFill>
                <a:latin typeface="Arial"/>
              </a:rPr>
              <a:t>Move from possible causes to practical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CAUSE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5 Whys and Fishbone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074920" cy="42519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783080"/>
            <a:ext cx="5074920" cy="42519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9339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5 Whys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9339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Fishbone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45720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Start with an observable problem statement.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Ask why the condition happens.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Avoid blame and stop when evidence is missing.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514600"/>
            <a:ext cx="45720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Group possible causes by category.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Use people, process, tools, materials, measurement, and environment.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Circle causes needing confirmation.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6: Problem Solving with 5 Whys and Fishbone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Write a fact-based problem statement.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Use 5 Whys.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Build a Fishbone diagram.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Identify evidence needed before 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6: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The team has identified a visible issue. Before suggesting solutions, you will explore possible causes in a structured and respectful way.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6: Step-by-Step (1/3)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Select the issue from Lab 05.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Write a problem statement using facts from the process or data.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Ask why the problem happens.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Continue asking why until you reach a process-related possible cause.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Avoid blaming a person as the final cause.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6: Step-by-Step (2/3)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Create a Fishbone diagram.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Use categories such as people, process, tools, materials, measurement, and environment.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Add possible causes to each category.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Circle two causes that seem most likely.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Write what evidence would support or reject each cause.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6: Step-by-Step (3/3)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Identify who can help confirm the cause.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Write one safe next investigation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LAB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6: Validation and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074920" cy="42519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783080"/>
            <a:ext cx="5074920" cy="42519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9339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Validation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9339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Deliverables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45720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The problem statement is factual.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The 5 Whys chain does not stop at blame.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Fishbone causes are plausible.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Evidence needed is clearly listed.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514600"/>
            <a:ext cx="45720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Problem statement.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- 5 Whys worksheet.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Fishbone diagram.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Evidence-needed list.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Next investigation step.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SUSTAINING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5S, Standard Work, and Visual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Sort: remove what is not needed.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Set in Order: make needed items easy to find and use.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Shine: clean, correct, and clarify.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Standardize: define the improved way of working.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Sustain: check that the standard continues.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Use labels, checklists, templates, status boards, and simple visual cues.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7: 5S, Standard Work, and Visual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Apply 5S thinking.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Identify visual control opportunities.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Draft simple standard work.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Support sustainment.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7: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Small improvements are easier to sustain when the workplace is organized, the standard is clear, and the team can see when something is not normal.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7: Step-by-Step (1/3)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Choose one physical workspace, digital folder, form, queue, or process step.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Apply Sort: list what is needed and not needed.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Apply Set in Order: decide where needed items or information should be located.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Apply Shine: identify what should be cleaned, corrected, clarified, or updated.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Apply Standardize: define what good looks like.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7: Step-by-Step (2/3)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Apply Sustain: define how the standard will be checked.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Identify where a label, checklist, color code, status board, or template would help.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Draft a short standard work instruction.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Include task name, steps, expected result, and check method.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Ask a partner to review whether the instruction is clear.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7: Step-by-Step (3/3)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Revise the standard work based on feedback.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LAB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7: Validation and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074920" cy="42519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783080"/>
            <a:ext cx="5074920" cy="42519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9339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Validation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9339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Deliverables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45720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The 5S actions are practical.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The visual control makes abnormal conditions easier to see.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Standard work is written simply.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Another learner can follow the instruction.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514600"/>
            <a:ext cx="45720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- 5S action list.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Visual control idea.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Draft standard work.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Feedback notes.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8: Improvement Summary and Action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Summarize the improvement opportunity.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Create a simple action plan.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Identify who should be involved next.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Present a White Belt improvement story.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8: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- You have observed a process, identified waste, collected simple data, and explored possible causes. You will now summarize the opportunity and prepare a practical next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8: Step-by-Step (1/3)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Review all lab worksheets.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Write the process name.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Identify the customer.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Summarize the problem in one sentence.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Summarize the waste observed.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8: Step-by-Step (2/3)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Summarize the simple data collected.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Summarize the possible cause.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Write one practical improvement idea.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Identify the process owner or team that should review the idea.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Define the first 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LAB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8: Step-by-Step (3/3)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Assign an owner or recommended owner.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Set a due date or review date.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Define how the team will know whether the change helped.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Prepare a three-minute presentation.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- Present to a peer or trainer and record feedback.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LAB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8: Validation and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074920" cy="42519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783080"/>
            <a:ext cx="5074920" cy="42519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9339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Validation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9339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Deliverables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45720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The summary uses evidence from previous labs.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The action plan has owner, date, and measure.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The proposed improvement is small and realistic.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The presentation is clear and respectful.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514600"/>
            <a:ext cx="45720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Improvement summary.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Action plan.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Measurement idea.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Presentation notes.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Lessons learned.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COURSE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Final Portfolio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Lean/Six Sigma definitions and DMAIC notes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Customer value worksheet and simple SIPOC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Process map and TIMWOODS waste table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Check sheet, simple chart, and data observation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Problem statement, 5 Whys, Fishbone, and evidence-needed list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- 5S action list, standard work draft, improvement summary, and action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PRACTICE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Take the Online CLSSWB Practice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461772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450">
                <a:solidFill>
                  <a:srgbClr val="161B26"/>
                </a:solidFill>
                <a:latin typeface="Arial"/>
              </a:rPr>
              <a:t>- Reinforce Lean, Six Sigma, DMAIC, White Belt role and improvement basics before assessment day.</a:t>
            </a:r>
          </a:p>
          <a:p>
            <a:pPr>
              <a:spcAft>
                <a:spcPts val="700"/>
              </a:spcAft>
            </a:pPr>
            <a:r>
              <a:rPr sz="1450">
                <a:solidFill>
                  <a:srgbClr val="161B26"/>
                </a:solidFill>
                <a:latin typeface="Arial"/>
              </a:rPr>
              <a:t>- Use practice sets to test process thinking, TIMWOODS waste, data visuals, 5 Whys, Fishbone and 5S.</a:t>
            </a:r>
          </a:p>
          <a:p>
            <a:pPr>
              <a:spcAft>
                <a:spcPts val="700"/>
              </a:spcAft>
            </a:pPr>
            <a:r>
              <a:rPr sz="1450">
                <a:solidFill>
                  <a:srgbClr val="161B26"/>
                </a:solidFill>
                <a:latin typeface="Arial"/>
              </a:rPr>
              <a:t>- Review mode helps you check the correct answer and revisit the concept after each question.</a:t>
            </a:r>
          </a:p>
          <a:p>
            <a:pPr>
              <a:spcAft>
                <a:spcPts val="700"/>
              </a:spcAft>
            </a:pPr>
            <a:r>
              <a:rPr sz="1450">
                <a:solidFill>
                  <a:srgbClr val="161B26"/>
                </a:solidFill>
                <a:latin typeface="Arial"/>
              </a:rPr>
              <a:t>- Complete the practice questions from Google Classroom, then bring difficult items to the review session.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94960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Access and practise at: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687568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Google Classroom &gt; Practice Questions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1965960"/>
            <a:ext cx="58978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79008" y="2139696"/>
            <a:ext cx="1554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61B26"/>
                </a:solidFill>
                <a:latin typeface="Arial"/>
              </a:rPr>
              <a:t>Tertiary Exams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139696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61B26"/>
                </a:solidFill>
                <a:latin typeface="Arial"/>
              </a:rPr>
              <a:t>Practice Exam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2139696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61B26"/>
                </a:solidFill>
                <a:latin typeface="Arial"/>
              </a:rPr>
              <a:t>About 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16768" y="2066543"/>
            <a:ext cx="530352" cy="219456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71632" y="2112264"/>
            <a:ext cx="41148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20" b="1">
                <a:solidFill>
                  <a:srgbClr val="FFFFFF"/>
                </a:solidFill>
                <a:latin typeface="Arial"/>
              </a:rPr>
              <a:t>Get started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834640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Certified Lean Six Sigma White Belt Practice Questions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3474720"/>
            <a:ext cx="10515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53328" y="3602736"/>
            <a:ext cx="77724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" b="1">
                <a:solidFill>
                  <a:srgbClr val="5B6372"/>
                </a:solidFill>
                <a:latin typeface="Arial"/>
              </a:rPr>
              <a:t>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53328" y="3776472"/>
            <a:ext cx="77724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1">
                <a:solidFill>
                  <a:srgbClr val="161B26"/>
                </a:solidFill>
                <a:latin typeface="Arial"/>
              </a:rPr>
              <a:t>Practice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328" y="3977639"/>
            <a:ext cx="822960" cy="320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0" y="3474720"/>
            <a:ext cx="10515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42048" y="3602736"/>
            <a:ext cx="77724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" b="1">
                <a:solidFill>
                  <a:srgbClr val="5B6372"/>
                </a:solidFill>
                <a:latin typeface="Arial"/>
              </a:rPr>
              <a:t>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2048" y="3776472"/>
            <a:ext cx="77724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1">
                <a:solidFill>
                  <a:srgbClr val="161B26"/>
                </a:solidFill>
                <a:latin typeface="Arial"/>
              </a:rPr>
              <a:t>CLSSWB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42048" y="3977639"/>
            <a:ext cx="822960" cy="320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21040" y="3474720"/>
            <a:ext cx="10515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0768" y="3602736"/>
            <a:ext cx="77724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" b="1">
                <a:solidFill>
                  <a:srgbClr val="5B6372"/>
                </a:solidFill>
                <a:latin typeface="Arial"/>
              </a:rPr>
              <a:t>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3776472"/>
            <a:ext cx="77724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1">
                <a:solidFill>
                  <a:srgbClr val="161B26"/>
                </a:solidFill>
                <a:latin typeface="Arial"/>
              </a:rPr>
              <a:t>Class link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8" y="3977639"/>
            <a:ext cx="822960" cy="320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012680" y="3154680"/>
            <a:ext cx="1188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31552" y="3310128"/>
            <a:ext cx="73152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" b="1">
                <a:solidFill>
                  <a:srgbClr val="161B26"/>
                </a:solidFill>
                <a:latin typeface="Arial"/>
              </a:rPr>
              <a:t>PRACTICE DETAILS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31552" y="3584448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" b="0">
                <a:solidFill>
                  <a:srgbClr val="161B26"/>
                </a:solidFill>
                <a:latin typeface="Arial"/>
              </a:rPr>
              <a:t>Exam code     WB-001
Use           Review
Domains       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0" y="4224528"/>
            <a:ext cx="37033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99048" y="4389120"/>
            <a:ext cx="146304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" b="1">
                <a:solidFill>
                  <a:srgbClr val="161B26"/>
                </a:solidFill>
                <a:latin typeface="Arial"/>
              </a:rPr>
              <a:t>Practice mode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9048" y="4617720"/>
            <a:ext cx="3108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" b="0">
                <a:solidFill>
                  <a:srgbClr val="5B6372"/>
                </a:solidFill>
                <a:latin typeface="Arial"/>
              </a:rPr>
              <a:t>Check answers and explanations while revising each topic.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12680" y="4572000"/>
            <a:ext cx="1188720" cy="713232"/>
          </a:xfrm>
          <a:prstGeom prst="roundRect">
            <a:avLst>
              <a:gd name="adj" fmla="val 8000"/>
            </a:avLst>
          </a:prstGeom>
          <a:solidFill>
            <a:srgbClr val="E8F3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49840" y="4709160"/>
            <a:ext cx="6858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" b="1">
                <a:solidFill>
                  <a:srgbClr val="1F6FEB"/>
                </a:solidFill>
                <a:latin typeface="Arial"/>
              </a:rPr>
              <a:t>Learner tip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4983480"/>
            <a:ext cx="822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30" b="0">
                <a:solidFill>
                  <a:srgbClr val="5B6372"/>
                </a:solidFill>
                <a:latin typeface="Arial"/>
              </a:rPr>
              <a:t>Retake missed items after revision.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0" y="5138928"/>
            <a:ext cx="37033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5266944"/>
            <a:ext cx="141732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30" b="0">
                <a:solidFill>
                  <a:srgbClr val="161B26"/>
                </a:solidFill>
                <a:latin typeface="Arial"/>
              </a:rPr>
              <a:t>DMAIC and White Belt role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52360" y="5312664"/>
            <a:ext cx="683971" cy="320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0" y="5257800"/>
            <a:ext cx="27432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" b="0">
                <a:solidFill>
                  <a:srgbClr val="5B6372"/>
                </a:solidFill>
                <a:latin typeface="Arial"/>
              </a:rPr>
              <a:t>34%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5394960"/>
            <a:ext cx="141732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30" b="0">
                <a:solidFill>
                  <a:srgbClr val="161B26"/>
                </a:solidFill>
                <a:latin typeface="Arial"/>
              </a:rPr>
              <a:t>Waste and process thinking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52360" y="5440680"/>
            <a:ext cx="563270" cy="320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0" y="5385816"/>
            <a:ext cx="27432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" b="0">
                <a:solidFill>
                  <a:srgbClr val="5B6372"/>
                </a:solidFill>
                <a:latin typeface="Arial"/>
              </a:rPr>
              <a:t>28%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60" y="5522976"/>
            <a:ext cx="141732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30" b="0">
                <a:solidFill>
                  <a:srgbClr val="161B26"/>
                </a:solidFill>
                <a:latin typeface="Arial"/>
              </a:rPr>
              <a:t>Data and problem solving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52360" y="5568696"/>
            <a:ext cx="462686" cy="320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1120" y="5513832"/>
            <a:ext cx="27432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" b="0">
                <a:solidFill>
                  <a:srgbClr val="5B6372"/>
                </a:solidFill>
                <a:latin typeface="Arial"/>
              </a:rPr>
              <a:t>23%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0760" y="5650992"/>
            <a:ext cx="141732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30" b="0">
                <a:solidFill>
                  <a:srgbClr val="161B26"/>
                </a:solidFill>
                <a:latin typeface="Arial"/>
              </a:rPr>
              <a:t>5S and action planning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52360" y="5696712"/>
            <a:ext cx="301752" cy="320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61120" y="5641848"/>
            <a:ext cx="27432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" b="0">
                <a:solidFill>
                  <a:srgbClr val="5B6372"/>
                </a:solidFill>
                <a:latin typeface="Arial"/>
              </a:rPr>
              <a:t>15%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8872" cy="6217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Closing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10789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Complete feedback or TRAQOM survey as instructed.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Confirm final attendance and assessment submission requirements.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Apply one small improvement conversation back at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Lean Six Sigma White Belt (CLSSWB) Training | TGS-2025053210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49224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